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7" r:id="rId2"/>
    <p:sldId id="296" r:id="rId3"/>
    <p:sldId id="260" r:id="rId4"/>
    <p:sldId id="297" r:id="rId5"/>
    <p:sldId id="298" r:id="rId6"/>
    <p:sldId id="289" r:id="rId7"/>
    <p:sldId id="316" r:id="rId8"/>
    <p:sldId id="291" r:id="rId9"/>
    <p:sldId id="300" r:id="rId10"/>
    <p:sldId id="301" r:id="rId11"/>
    <p:sldId id="308" r:id="rId12"/>
    <p:sldId id="302" r:id="rId13"/>
    <p:sldId id="303" r:id="rId14"/>
    <p:sldId id="304" r:id="rId15"/>
    <p:sldId id="306" r:id="rId16"/>
    <p:sldId id="305" r:id="rId17"/>
    <p:sldId id="307" r:id="rId18"/>
    <p:sldId id="309" r:id="rId19"/>
    <p:sldId id="311" r:id="rId20"/>
    <p:sldId id="310" r:id="rId21"/>
    <p:sldId id="317" r:id="rId22"/>
    <p:sldId id="319" r:id="rId23"/>
    <p:sldId id="322" r:id="rId24"/>
    <p:sldId id="320" r:id="rId25"/>
    <p:sldId id="321" r:id="rId26"/>
    <p:sldId id="323" r:id="rId27"/>
    <p:sldId id="324" r:id="rId28"/>
    <p:sldId id="312" r:id="rId29"/>
    <p:sldId id="325" r:id="rId30"/>
    <p:sldId id="313" r:id="rId31"/>
    <p:sldId id="314" r:id="rId32"/>
    <p:sldId id="315" r:id="rId33"/>
    <p:sldId id="326" r:id="rId34"/>
    <p:sldId id="327" r:id="rId35"/>
    <p:sldId id="328" r:id="rId36"/>
    <p:sldId id="329" r:id="rId37"/>
    <p:sldId id="279" r:id="rId38"/>
    <p:sldId id="281" r:id="rId39"/>
  </p:sldIdLst>
  <p:sldSz cx="18288000" cy="10287000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Montserrat" panose="00000500000000000000" pitchFamily="2" charset="0"/>
      <p:regular r:id="rId42"/>
      <p:bold r:id="rId43"/>
      <p:italic r:id="rId44"/>
      <p:boldItalic r:id="rId45"/>
    </p:embeddedFont>
    <p:embeddedFont>
      <p:font typeface="Montserrat Classic" panose="020B0604020202020204" charset="0"/>
      <p:regular r:id="rId46"/>
    </p:embeddedFont>
    <p:embeddedFont>
      <p:font typeface="Montserrat Classic Bold" panose="020B0604020202020204" charset="0"/>
      <p:regular r:id="rId47"/>
    </p:embeddedFont>
    <p:embeddedFont>
      <p:font typeface="Open Sans Extra Bold" panose="020B0604020202020204" charset="0"/>
      <p:regular r:id="rId48"/>
    </p:embeddedFont>
    <p:embeddedFont>
      <p:font typeface="Raleway" pitchFamily="2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27" autoAdjust="0"/>
  </p:normalViewPr>
  <p:slideViewPr>
    <p:cSldViewPr>
      <p:cViewPr varScale="1">
        <p:scale>
          <a:sx n="51" d="100"/>
          <a:sy n="51" d="100"/>
        </p:scale>
        <p:origin x="85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3/16/2025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87D0-B390-C2B7-AADA-C968E05A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02468-34FC-F913-F0F1-3AF1ADE4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A9BF-7D0D-7119-E828-FEC91815D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CECA-9D09-02B6-AE52-E49766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09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EA7B-4698-84EF-2B7B-BF29B8B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D02C-B7C1-D3B1-D1FF-89775BE54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86C69-BD71-B3A1-CAAB-20123B082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F570-B8A7-1923-C839-3B9851F63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8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16649-B173-645E-DA89-37E32678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68E0E-3429-2665-96EF-892BFC632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9EB35-3FA5-F7DE-3FD2-ADDE89EDC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454DA-2139-0BDE-BC7D-0F9734930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78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0F1B-BFCA-FB1E-CF82-2214753D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57BDB-B386-9F00-A593-0BA0F18D8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458E1-5D30-F569-D78F-A2D13260E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92DCA-31B7-2ED7-AE21-09CEF5E6C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62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B1E-90AF-4383-E4D5-D819DFEBE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BDF23-54AB-BE12-9FD2-08D654EF1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FB2A-71EC-AF37-16A4-80EBD58F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781E7-8BDC-17F6-B24A-5689290E6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70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1637-1C56-4998-5AC6-7BC357C1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2FE3E-FADC-F857-AAE9-904C140DB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24D31-A9A5-982C-7EE0-D50D934D5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0BE72-583B-0604-A30D-9100A3A69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05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FE7A-AB7D-D8BE-100A-E3DABC90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C8836-2A3A-0C49-1390-CF94E9D11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C385-E11D-601C-4C6E-0C36D9529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493D-E0BB-512E-38F3-84E09ED60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5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878A-A922-C477-EDFB-7E776C32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4799A-BEF4-F876-5B67-221BD40F8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6A992-99EB-0F25-B1CF-56A89A267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02ECD-5681-50E9-A9D2-48D56E843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11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EB0F-F214-37BB-B93D-C057CB29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F9E26-1447-9E5C-BD05-4B9648E25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C340C-33AE-6FEF-0FBA-F4525B92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D3C98-0584-0771-56FF-3A60D4064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A80E-8E0E-3127-1770-F89E7EB4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A1DF7-B740-D3BE-8B35-2C3747841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4986D-4665-F466-8368-8C5EB48F6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68D31-D2F7-96A5-C07F-8C99A45AF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88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3AE0-6B80-2ED5-093F-6C51A3B5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3F3A3-7350-0604-7D25-6C8F56D3D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CA22C-F947-C17B-803A-6AE7F24BD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6DDF9-41DB-7BB1-AAF3-5FFD8DC5A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98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ED7F-D483-8831-A42E-A5D3B7C6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12997-9AC7-D332-6D2E-91C160C30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0D5DB-0299-8EA0-2AA5-823E23F37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ECE65-9F82-1F9C-C8C6-F1653C64B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57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20A59-6BAB-4837-C514-23B1B3A6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AB4E0-9907-9D66-ACD0-8F40254FC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DC545-632A-BE5E-A104-66ACF2368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7F43C-8300-88BB-8E49-94513041D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5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618A-E44A-8CE0-87CB-4F2CCD7F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33056-9CE8-D94E-EC86-ED329DD03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C389B-4444-883D-D98A-B43694BA4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4B4B6-DB4F-3368-DF89-8BB6C2EDE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06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DFA9-A024-0E0B-F023-F244671C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0F44A-D3F2-CF9C-4394-C43892577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53D07-CD21-B0C2-F4D5-2B4D375B7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9DE48-FC7A-6464-3EE0-C244DF250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21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EBEDF-89CA-9FD4-D1EE-439FB48E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B5C2D-11F8-DE0E-E37A-4D99462BD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0374B-7FA1-66EB-CE71-65D0365BE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95765-A699-EA4A-4C30-6A74A186A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40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1DC9-1CE7-4750-992D-AA3B7868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38A93-8FF6-5265-F386-682309F53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61B60-A8A5-A66F-6292-033119FC1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60DAC-C0F1-BDA3-D854-DF2783FEAC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0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DB2E-3F11-A14E-80C0-9BF11494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7BA10-AE70-394A-6219-72A74F2C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2A5198-D339-963F-E8DC-0FF54D567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532F3-A37F-1F28-A04F-05E317819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15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AEA50-3218-B429-6C6E-4274EAC8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C02E5-2F91-8678-1619-BC7B9EE29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113BD-3988-40E6-137D-3766F8F5C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59577-5BC7-5A29-AF5E-9F17F6EBB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696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1E7A-5412-3FCF-8678-8B2CCDE6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9ECE8-7B8E-6C4F-E11B-DF5CEFA75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E1E91-AC94-9933-07C2-B45F2206C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764CA-FB33-F6B8-A52D-9A57656BC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79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C633-58A2-2ADF-6478-78F56EB37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29342-D792-82C0-BD7E-B7FBD85DA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BC3E6-D62A-3EB6-9868-79E51A3D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58960-B9D7-79B1-2F27-1B33D6ECE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99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19F3-D833-0039-3E64-59589B1D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CC1B6-C443-94D7-2AE1-80AECC2C9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7B752-C8D9-3EE4-19F5-68D1826D8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DEB51-C9DE-05C1-3DE3-436F41628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623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F293-8671-5B89-15FC-A3E612E0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13ACE-C1AE-9956-5B73-835EA8853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86995-9974-DA7A-1CE0-FDC3D80A6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86FD1-1B76-C8C9-2D4B-5F27FB253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0CCA9-D4F0-6F19-57E9-0C4AFF1D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B569C-1F9F-20AA-F79A-00FA9E9BD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A5752-D88F-A9EF-60E0-C0E985417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B43E7-E07D-E93D-EA74-6931256B2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82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428A-EAF6-BE1C-146B-A727C6C1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95D49-0A84-9316-A770-DAC750284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423BD-134D-012B-20F8-DB54C7E1E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AF4DD-C7CE-3452-9AB3-E46417232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2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B249-B372-941D-A706-07D1008B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F41C2-6401-0149-1186-D124D89E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4B9D3-450D-C16E-CDB8-13E90CC04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4A0B5-EE7E-568D-5AAF-0F54E9E66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18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BBE0-D727-853D-19C1-FEFB277D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63068-3247-72CC-614C-487748FF8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33204-C228-C828-EED6-9CC92F34D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2AD8-3078-699D-0422-302773207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546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9A39-716F-BE6A-3223-21CFC324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8891E-197C-9EE0-B243-370974CBF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00A1E-92BE-C138-22CE-CA3171203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B777B-F589-828C-1971-500E87EC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682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39E0-3A48-C2D6-E5CF-8595A17F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1F4AA-1C01-3528-8EDA-26BD897B8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C5B94-0E01-866C-670B-736C85419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BE76B-928E-908D-FA8C-7EC420233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568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738B-A145-CA11-C358-D5C0215B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2F8A9-0ED8-0BFD-51A5-083007C61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0FCE9-BB0A-4069-7A14-330928400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39EE-2C97-4ED8-8178-B6C343FF1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871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7D37-BE64-BD51-CD03-033BA102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AAC09-6875-BE30-7F07-BEE9737E5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46F7C-B23A-C855-5A8A-E726BBD29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37EE7-7EC1-E10C-CE8F-3F1A8AC37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767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6F90-84C8-9EBA-11AB-99CA19F5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F4118-CCAB-EA94-4C5E-5CF2EAD27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C65EC-EDD2-78BD-B7A9-A0F97213C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C61DB-B7BE-F91D-6933-19A2D900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145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884E-C52F-A178-05A1-3ECCC179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61765-048C-93E0-D9E2-DAB3B2067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43762-2F92-37FC-182D-54ACC9190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02314-B290-D71C-C233-F24523896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026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12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2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5.png"/><Relationship Id="rId4" Type="http://schemas.openxmlformats.org/officeDocument/2006/relationships/tags" Target="../tags/tag6.xml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4" y="2885248"/>
            <a:ext cx="13795173" cy="1197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72"/>
              </a:lnSpc>
            </a:pPr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Introduction to Regression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8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4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Machine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Machine Learning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5295601" y="6143370"/>
            <a:ext cx="7643911" cy="3948650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Supervised Learning?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1417" y="3536335"/>
            <a:ext cx="15591442" cy="215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</a:pP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Dalam Supervised Learning,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mesin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dilatih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menggunakan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yang juga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dikenal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sebagai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pelatihan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,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Tujuannya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adalah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membangun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model yang dapat belajar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dari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berlabel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ini untuk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prediksi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atau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klasifikasi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pada data baru yang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belum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pernah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56" spc="79" dirty="0" err="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dilihat</a:t>
            </a:r>
            <a:r>
              <a:rPr lang="en-US" sz="2656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sebelumnya.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D9C7-5321-DF5C-9D13-4EBB0614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93D61F-D747-F05D-F496-96FEA260B41E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C805DF-1247-0B9F-6BFD-54BAA27FF09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16CF2A-0D12-CA7E-3FA9-9170F2F486C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AC0CCE4-9AB9-95B6-01E3-C25EAE6962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CF962DA-1DC1-D3CC-7296-2DD87F5D16B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F6CF4D-7C7B-604E-BBCB-110DD1EE24C2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Regression 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7CBC30F-5E26-E98D-051C-7227CC063918}"/>
              </a:ext>
            </a:extLst>
          </p:cNvPr>
          <p:cNvSpPr txBox="1"/>
          <p:nvPr/>
        </p:nvSpPr>
        <p:spPr>
          <a:xfrm>
            <a:off x="769002" y="2935502"/>
            <a:ext cx="15591442" cy="186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Metode dalam </a:t>
            </a:r>
            <a:r>
              <a:rPr lang="en-US" sz="2800" dirty="0" err="1">
                <a:latin typeface="Montserrat" panose="00000500000000000000" pitchFamily="2" charset="0"/>
              </a:rPr>
              <a:t>statistik</a:t>
            </a:r>
            <a:r>
              <a:rPr lang="en-US" sz="2800" dirty="0">
                <a:latin typeface="Montserrat" panose="00000500000000000000" pitchFamily="2" charset="0"/>
              </a:rPr>
              <a:t> dan machine learning yang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b="1" dirty="0" err="1">
                <a:latin typeface="Montserrat" panose="00000500000000000000" pitchFamily="2" charset="0"/>
              </a:rPr>
              <a:t>menganalisis</a:t>
            </a:r>
            <a:r>
              <a:rPr lang="en-US" sz="2800" b="1" dirty="0">
                <a:latin typeface="Montserrat" panose="00000500000000000000" pitchFamily="2" charset="0"/>
              </a:rPr>
              <a:t> hubungan </a:t>
            </a:r>
            <a:r>
              <a:rPr lang="en-US" sz="2800" b="1" dirty="0" err="1">
                <a:latin typeface="Montserrat" panose="00000500000000000000" pitchFamily="2" charset="0"/>
              </a:rPr>
              <a:t>antara</a:t>
            </a:r>
            <a:r>
              <a:rPr lang="en-US" sz="2800" b="1" dirty="0">
                <a:latin typeface="Montserrat" panose="00000500000000000000" pitchFamily="2" charset="0"/>
              </a:rPr>
              <a:t> variabel </a:t>
            </a:r>
            <a:r>
              <a:rPr lang="en-US" sz="2800" b="1" dirty="0" err="1">
                <a:latin typeface="Montserrat" panose="00000500000000000000" pitchFamily="2" charset="0"/>
              </a:rPr>
              <a:t>independen</a:t>
            </a:r>
            <a:r>
              <a:rPr lang="en-US" sz="2800" b="1" dirty="0">
                <a:latin typeface="Montserrat" panose="00000500000000000000" pitchFamily="2" charset="0"/>
              </a:rPr>
              <a:t> (input) dan variabel </a:t>
            </a:r>
            <a:r>
              <a:rPr lang="en-US" sz="2800" b="1" dirty="0" err="1">
                <a:latin typeface="Montserrat" panose="00000500000000000000" pitchFamily="2" charset="0"/>
              </a:rPr>
              <a:t>dependen</a:t>
            </a:r>
            <a:r>
              <a:rPr lang="en-US" sz="2800" b="1" dirty="0">
                <a:latin typeface="Montserrat" panose="00000500000000000000" pitchFamily="2" charset="0"/>
              </a:rPr>
              <a:t> (output)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serta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membuat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prediksi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berdasarkan</a:t>
            </a:r>
            <a:r>
              <a:rPr lang="en-US" sz="2800" b="1" dirty="0">
                <a:latin typeface="Montserrat" panose="00000500000000000000" pitchFamily="2" charset="0"/>
              </a:rPr>
              <a:t> hubungan </a:t>
            </a:r>
            <a:r>
              <a:rPr lang="en-US" sz="2800" b="1" dirty="0" err="1">
                <a:latin typeface="Montserrat" panose="00000500000000000000" pitchFamily="2" charset="0"/>
              </a:rPr>
              <a:t>tersebut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en-US" sz="2656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01A70DD-C27B-7170-7A43-B15BADB5376B}"/>
              </a:ext>
            </a:extLst>
          </p:cNvPr>
          <p:cNvSpPr/>
          <p:nvPr/>
        </p:nvSpPr>
        <p:spPr>
          <a:xfrm>
            <a:off x="11049000" y="5372100"/>
            <a:ext cx="4788646" cy="4308836"/>
          </a:xfrm>
          <a:custGeom>
            <a:avLst/>
            <a:gdLst/>
            <a:ahLst/>
            <a:cxnLst/>
            <a:rect l="l" t="t" r="r" b="b"/>
            <a:pathLst>
              <a:path w="7643911" h="3948650">
                <a:moveTo>
                  <a:pt x="0" y="0"/>
                </a:moveTo>
                <a:lnTo>
                  <a:pt x="7643912" y="0"/>
                </a:lnTo>
                <a:lnTo>
                  <a:pt x="7643912" y="3948650"/>
                </a:lnTo>
                <a:lnTo>
                  <a:pt x="0" y="394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714" r="1" b="-930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E0A7A030-E063-EA01-B361-8953AAF5CA48}"/>
              </a:ext>
            </a:extLst>
          </p:cNvPr>
          <p:cNvSpPr txBox="1"/>
          <p:nvPr/>
        </p:nvSpPr>
        <p:spPr>
          <a:xfrm>
            <a:off x="751417" y="5939429"/>
            <a:ext cx="8392583" cy="2512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1" dirty="0" err="1">
                <a:latin typeface="Montserrat" panose="00000500000000000000" pitchFamily="2" charset="0"/>
              </a:rPr>
              <a:t>Mengapa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Regresi</a:t>
            </a:r>
            <a:r>
              <a:rPr lang="en-US" sz="2800" b="1" dirty="0">
                <a:latin typeface="Montserrat" panose="00000500000000000000" pitchFamily="2" charset="0"/>
              </a:rPr>
              <a:t> Penting?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masa depan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hubungan </a:t>
            </a:r>
            <a:r>
              <a:rPr lang="en-US" sz="2800" dirty="0" err="1">
                <a:latin typeface="Montserrat" panose="00000500000000000000" pitchFamily="2" charset="0"/>
              </a:rPr>
              <a:t>antara</a:t>
            </a:r>
            <a:r>
              <a:rPr lang="en-US" sz="2800" dirty="0">
                <a:latin typeface="Montserrat" panose="00000500000000000000" pitchFamily="2" charset="0"/>
              </a:rPr>
              <a:t> variabel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Mengidentifikasi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pola</a:t>
            </a:r>
            <a:r>
              <a:rPr lang="en-US" sz="2800" dirty="0">
                <a:latin typeface="Montserrat" panose="00000500000000000000" pitchFamily="2" charset="0"/>
              </a:rPr>
              <a:t> dalam data </a:t>
            </a:r>
            <a:endParaRPr lang="en-US" sz="2656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1715515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A0445-E438-E917-006E-33FA518C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CA8CA6C-1B3E-E82E-0C19-2DF940BEC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07" y="2826732"/>
            <a:ext cx="7385750" cy="5878835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7535E706-BD6F-7A7A-53A9-C6E13C34CF9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2BB2EB-C5E3-9D0E-63D5-59816D8367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BAFDD94-3AFC-D368-65AD-0AC5BAC744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1176C7-B738-2D73-85A4-D31326C9A8F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2C0051-AE3D-BE53-3D0F-1E4A6F2F44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150DE3F-909C-B0E6-51D5-CB48BC76014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B977C4C-FDA1-284B-7398-AB55605DC92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F177E9-DB67-8348-3934-DD4F956425DF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17662-58D1-218B-7F70-1E5C17740007}"/>
              </a:ext>
            </a:extLst>
          </p:cNvPr>
          <p:cNvSpPr txBox="1"/>
          <p:nvPr/>
        </p:nvSpPr>
        <p:spPr>
          <a:xfrm>
            <a:off x="1621400" y="1581157"/>
            <a:ext cx="16057000" cy="813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Memprediksi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output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bernilai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riil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Output : 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Numeric </a:t>
            </a:r>
            <a:r>
              <a:rPr lang="en-US" sz="3200" dirty="0" err="1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atau</a:t>
            </a: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 continuous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Linear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Random Forest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Support Vector Regression,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" panose="00000500000000000000" pitchFamily="2" charset="0"/>
              </a:rPr>
              <a:t>XGBoost</a:t>
            </a:r>
            <a:r>
              <a:rPr lang="en-US" sz="3200" dirty="0">
                <a:latin typeface="Montserrat" panose="00000500000000000000" pitchFamily="2" charset="0"/>
              </a:rPr>
              <a:t> &amp; Gradient Boosting Regression</a:t>
            </a:r>
            <a:endParaRPr lang="en-US" sz="3200" dirty="0">
              <a:latin typeface="Montserrat" panose="00000500000000000000" pitchFamily="2" charset="0"/>
              <a:ea typeface="Open Sans Extra Bold" panose="020B0604020202020204" charset="0"/>
              <a:cs typeface="Open Sans Extra Bold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Model evaluation: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MSE (Mean Squared Error),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MAE (Mean Absolute Error),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R2 Score</a:t>
            </a:r>
          </a:p>
        </p:txBody>
      </p:sp>
    </p:spTree>
    <p:extLst>
      <p:ext uri="{BB962C8B-B14F-4D97-AF65-F5344CB8AC3E}">
        <p14:creationId xmlns:p14="http://schemas.microsoft.com/office/powerpoint/2010/main" val="2475996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0.275 -0.2737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-13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500EC-464E-77CE-9665-67B95324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1E95521-3635-76DC-0D17-F98C17164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97" y="1082058"/>
            <a:ext cx="16324700" cy="734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E6D2E766-A0A0-069C-FB81-D3221C93A47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5E65CF6-F142-6AE3-E055-0710D8F819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6BA853-94BC-7094-A852-983DC57171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88E3C3D-354F-0454-C010-372D84E84B5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9430749-DD46-D531-C873-04E9F2344BD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5E9A71-5671-A9FA-DFA8-8ABCBAE560C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9CBA6C4-4529-584E-D7E7-45906BA4499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7174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C9933-F332-AE73-6061-5088E711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539D164-1980-2AC7-435E-FFA3612B7692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53A8F5-1305-53AA-6DC3-A059233D688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236907-E2D0-DEA8-63B4-25D1CF4293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04B263A-05F8-7F7D-C6E3-4C3E47E5C28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11323A3-0541-C29E-9A32-12A61B1642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8E2A6CA-C9F6-5063-AA0D-3820462F4F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83E2105-A61C-5C87-6C4A-541D1049D35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DC4713B-A68E-D77A-ADA1-D78022653A5C}"/>
              </a:ext>
            </a:extLst>
          </p:cNvPr>
          <p:cNvSpPr txBox="1"/>
          <p:nvPr/>
        </p:nvSpPr>
        <p:spPr>
          <a:xfrm>
            <a:off x="751416" y="1521577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4E62C-56A5-08E3-0F6A-597C62D846B4}"/>
              </a:ext>
            </a:extLst>
          </p:cNvPr>
          <p:cNvSpPr txBox="1"/>
          <p:nvPr/>
        </p:nvSpPr>
        <p:spPr>
          <a:xfrm>
            <a:off x="1644846" y="2493462"/>
            <a:ext cx="14706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ea typeface="Open Sans Extra Bold" panose="020B0604020202020204" charset="0"/>
                <a:cs typeface="Open Sans Extra Bold" panose="020B0604020202020204" charset="0"/>
              </a:rPr>
              <a:t>Definition: The model learns from labeled data to predict new outputs.</a:t>
            </a:r>
          </a:p>
        </p:txBody>
      </p:sp>
      <p:pic>
        <p:nvPicPr>
          <p:cNvPr id="16" name="Picture 15" descr="A yellow paper with black text&#10;&#10;AI-generated content may be incorrect.">
            <a:extLst>
              <a:ext uri="{FF2B5EF4-FFF2-40B4-BE49-F238E27FC236}">
                <a16:creationId xmlns:a16="http://schemas.microsoft.com/office/drawing/2014/main" id="{6B817503-96B7-E4E4-456D-011637E8B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67" y="3268654"/>
            <a:ext cx="16564158" cy="33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7235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8E5F5-2866-2938-3EC7-1EE98C22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534FFC-E754-524B-1944-4688F42896A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E4118E-7649-C66E-C37A-CBFE11E01B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BA339A-99DE-D9A0-5944-75782D7A35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B012A5-03AA-A2DA-BE35-845980D73A8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C12224-2CFA-9CA1-3BF5-75E90B31D4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2A1731-91ED-1870-0B0B-8AA40D5D786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5659822-6687-4FAE-ACF3-8CEDB011A22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97B52B-43D5-5600-E450-17DD26C5C75F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Tipe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7A80D5-7CCC-2378-9C72-FBBB4FE6610C}"/>
              </a:ext>
            </a:extLst>
          </p:cNvPr>
          <p:cNvGrpSpPr/>
          <p:nvPr/>
        </p:nvGrpSpPr>
        <p:grpSpPr>
          <a:xfrm>
            <a:off x="3840718" y="2034330"/>
            <a:ext cx="11749962" cy="7404288"/>
            <a:chOff x="2946400" y="1304995"/>
            <a:chExt cx="7024914" cy="48408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BB4A00-9765-394B-801B-72537350E0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</a:blip>
            <a:srcRect b="2624"/>
            <a:stretch/>
          </p:blipFill>
          <p:spPr>
            <a:xfrm>
              <a:off x="3076870" y="1722862"/>
              <a:ext cx="6740655" cy="4286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1">
              <a:extLst>
                <a:ext uri="{FF2B5EF4-FFF2-40B4-BE49-F238E27FC236}">
                  <a16:creationId xmlns:a16="http://schemas.microsoft.com/office/drawing/2014/main" id="{A1DFC47E-489D-DB48-89D2-C64C46EEF5D8}"/>
                </a:ext>
              </a:extLst>
            </p:cNvPr>
            <p:cNvSpPr txBox="1"/>
            <p:nvPr/>
          </p:nvSpPr>
          <p:spPr>
            <a:xfrm>
              <a:off x="2946401" y="1320182"/>
              <a:ext cx="3543614" cy="5231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Linear</a:t>
              </a:r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AE3C4D86-3C07-6148-B248-36C52FE06E85}"/>
                </a:ext>
              </a:extLst>
            </p:cNvPr>
            <p:cNvSpPr txBox="1"/>
            <p:nvPr/>
          </p:nvSpPr>
          <p:spPr>
            <a:xfrm>
              <a:off x="6490016" y="1320182"/>
              <a:ext cx="3481298" cy="5231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Non - Linear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857D0E-FB55-A129-AE62-D5E1F2F6F2D0}"/>
                </a:ext>
              </a:extLst>
            </p:cNvPr>
            <p:cNvSpPr/>
            <p:nvPr/>
          </p:nvSpPr>
          <p:spPr>
            <a:xfrm>
              <a:off x="2946400" y="1304995"/>
              <a:ext cx="7024914" cy="4840828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793830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7BB06-3534-3711-6385-CEEBE41C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A683C8E-2C0D-830B-CC61-B257D6B3D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4624" y="6073115"/>
            <a:ext cx="6942619" cy="285606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22ABB611-7633-95F5-99E5-7B066BB68B39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5EBC349-2421-5213-29A9-4267210F926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9E23E96-C2F4-3038-21DD-EDD76A0EDD0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08BDE19-A7B7-D1FC-F252-26F0708EF01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DA94AD-8FA5-CBE3-7D8C-6C3E71D6754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59B38E3-5D0D-B062-E8E0-E9ED91C1386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5497377-42DC-231F-54D5-CA9DD31AC44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485012-8BA2-6155-6B31-EE8745E8CD0D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Jenis-Jenis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5" name="Google Shape;120;p7">
            <a:extLst>
              <a:ext uri="{FF2B5EF4-FFF2-40B4-BE49-F238E27FC236}">
                <a16:creationId xmlns:a16="http://schemas.microsoft.com/office/drawing/2014/main" id="{C7D3D090-D13C-93D5-4885-2F8A8BC6CDEF}"/>
              </a:ext>
            </a:extLst>
          </p:cNvPr>
          <p:cNvSpPr txBox="1">
            <a:spLocks/>
          </p:cNvSpPr>
          <p:nvPr/>
        </p:nvSpPr>
        <p:spPr>
          <a:xfrm>
            <a:off x="1277236" y="2098757"/>
            <a:ext cx="8540039" cy="53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88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45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18918"/>
              </a:lnSpc>
            </a:pPr>
            <a:r>
              <a:rPr lang="en-US" sz="2800" dirty="0">
                <a:solidFill>
                  <a:srgbClr val="2E768B"/>
                </a:solidFill>
                <a:latin typeface="Montserrat" panose="00000500000000000000" pitchFamily="2" charset="0"/>
              </a:rPr>
              <a:t>Simple Regression</a:t>
            </a:r>
          </a:p>
        </p:txBody>
      </p:sp>
      <p:sp>
        <p:nvSpPr>
          <p:cNvPr id="26" name="Google Shape;120;p7">
            <a:extLst>
              <a:ext uri="{FF2B5EF4-FFF2-40B4-BE49-F238E27FC236}">
                <a16:creationId xmlns:a16="http://schemas.microsoft.com/office/drawing/2014/main" id="{EC3C025C-11A4-79EE-8F47-72E2C4716FB5}"/>
              </a:ext>
            </a:extLst>
          </p:cNvPr>
          <p:cNvSpPr txBox="1">
            <a:spLocks/>
          </p:cNvSpPr>
          <p:nvPr/>
        </p:nvSpPr>
        <p:spPr>
          <a:xfrm>
            <a:off x="1230343" y="5536629"/>
            <a:ext cx="6093658" cy="53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88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450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18918"/>
              </a:lnSpc>
            </a:pPr>
            <a:r>
              <a:rPr lang="en-US" sz="2800" dirty="0">
                <a:solidFill>
                  <a:srgbClr val="2E768B"/>
                </a:solidFill>
                <a:latin typeface="Montserrat" panose="00000500000000000000" pitchFamily="2" charset="0"/>
              </a:rPr>
              <a:t>Multivariate Regression</a:t>
            </a:r>
          </a:p>
        </p:txBody>
      </p:sp>
      <p:sp>
        <p:nvSpPr>
          <p:cNvPr id="27" name="Google Shape;74;p2">
            <a:extLst>
              <a:ext uri="{FF2B5EF4-FFF2-40B4-BE49-F238E27FC236}">
                <a16:creationId xmlns:a16="http://schemas.microsoft.com/office/drawing/2014/main" id="{B67871C7-1CE4-B656-6C2C-E49A48753C63}"/>
              </a:ext>
            </a:extLst>
          </p:cNvPr>
          <p:cNvSpPr txBox="1"/>
          <p:nvPr/>
        </p:nvSpPr>
        <p:spPr>
          <a:xfrm>
            <a:off x="1277235" y="2774167"/>
            <a:ext cx="8857365" cy="129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 algn="just">
              <a:lnSpc>
                <a:spcPct val="150000"/>
              </a:lnSpc>
              <a:buSzPts val="2700"/>
            </a:pP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Memprediksi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dependen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yang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kontinu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menggunakan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satu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independen</a:t>
            </a:r>
            <a:endParaRPr lang="en-US" sz="2800" dirty="0">
              <a:solidFill>
                <a:srgbClr val="262626"/>
              </a:solidFill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</p:txBody>
      </p:sp>
      <p:sp>
        <p:nvSpPr>
          <p:cNvPr id="28" name="Google Shape;74;p2">
            <a:extLst>
              <a:ext uri="{FF2B5EF4-FFF2-40B4-BE49-F238E27FC236}">
                <a16:creationId xmlns:a16="http://schemas.microsoft.com/office/drawing/2014/main" id="{C3A38B5A-931F-32EA-88BF-10F4A0D7A2DB}"/>
              </a:ext>
            </a:extLst>
          </p:cNvPr>
          <p:cNvSpPr txBox="1"/>
          <p:nvPr/>
        </p:nvSpPr>
        <p:spPr>
          <a:xfrm>
            <a:off x="1128378" y="6244070"/>
            <a:ext cx="8857366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397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Memprediksi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suatu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variabel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dependen</a:t>
            </a:r>
            <a:r>
              <a:rPr lang="en-ID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 yang </a:t>
            </a:r>
            <a:r>
              <a:rPr lang="en-ID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Georgia"/>
              </a:rPr>
              <a:t>kontinu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menggunakan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beberapa</a:t>
            </a:r>
            <a:r>
              <a:rPr lang="en-US" sz="2800" dirty="0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variable </a:t>
            </a:r>
            <a:r>
              <a:rPr lang="en-US" sz="2800" dirty="0" err="1">
                <a:solidFill>
                  <a:srgbClr val="262626"/>
                </a:solidFill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independen</a:t>
            </a:r>
            <a:endParaRPr lang="en-ID" sz="2800" dirty="0">
              <a:solidFill>
                <a:srgbClr val="262626"/>
              </a:solidFill>
              <a:latin typeface="Montserrat" panose="00000500000000000000" pitchFamily="2" charset="0"/>
              <a:ea typeface="Trebuchet MS"/>
              <a:cs typeface="Trebuchet MS"/>
              <a:sym typeface="Georgia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4D950A6-49D4-2842-4218-1C453ED47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576" y="4218728"/>
            <a:ext cx="4153485" cy="1423384"/>
          </a:xfrm>
          <a:prstGeom prst="rect">
            <a:avLst/>
          </a:prstGeom>
          <a:ln>
            <a:noFill/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C26F381-32C4-7B17-CE53-BA95CF129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373" y="8290589"/>
            <a:ext cx="8649729" cy="1381406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18C046-0445-5211-A188-73AF2FFA0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0" y="2367000"/>
            <a:ext cx="5871868" cy="196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3341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E7A81-36B8-61D6-12E5-0DDA0A86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EF483F-767F-60F3-3B00-76D65A27465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9EA6E2-7264-DA75-CD57-135376BF6E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855DBF-8860-217F-39FF-EF3283DEB89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DF6E59E-6D45-5485-537A-A4F0031F1739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E4F26C-549E-67D5-6C4F-17E18D05ADC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8D52BD5-A5C7-3079-76E2-27326A4FA2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24EDF7C-CA8D-D256-E1DD-26A9656CBCD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275C25-3BD0-8C82-A936-FCEEDFA98873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Persamaan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244E56-8445-BB98-DBC0-031DD14C3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485" y="6880428"/>
            <a:ext cx="8649729" cy="1381406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48319D-4659-4A54-C35A-66BFC497C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16" y="1900625"/>
            <a:ext cx="9982166" cy="10398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74;p2">
                <a:extLst>
                  <a:ext uri="{FF2B5EF4-FFF2-40B4-BE49-F238E27FC236}">
                    <a16:creationId xmlns:a16="http://schemas.microsoft.com/office/drawing/2014/main" id="{38E2B685-8547-F305-D86C-524B4AB0C3FD}"/>
                  </a:ext>
                </a:extLst>
              </p:cNvPr>
              <p:cNvSpPr txBox="1"/>
              <p:nvPr/>
            </p:nvSpPr>
            <p:spPr>
              <a:xfrm>
                <a:off x="1432450" y="3216838"/>
                <a:ext cx="15423097" cy="374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6025" rIns="0" bIns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Montserrat" panose="00000500000000000000" pitchFamily="2" charset="0"/>
                  </a:rPr>
                  <a:t>Di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sini</a:t>
                </a:r>
                <a:r>
                  <a:rPr lang="en-US" sz="2800" dirty="0">
                    <a:latin typeface="Montserrat" panose="00000500000000000000" pitchFamily="2" charset="0"/>
                  </a:rPr>
                  <a:t>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Montserrat" panose="00000500000000000000" pitchFamily="2" charset="0"/>
                  </a:rPr>
                  <a:t>Y = adalah variabel target (dependent variable)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0</a:t>
                </a:r>
                <a:r>
                  <a:rPr lang="en-US" sz="2000" dirty="0"/>
                  <a:t> </a:t>
                </a:r>
                <a:r>
                  <a:rPr lang="en-US" sz="2800" dirty="0"/>
                  <a:t>= </a:t>
                </a:r>
                <a:r>
                  <a:rPr lang="en-US" sz="2800" dirty="0">
                    <a:latin typeface="Montserrat" panose="00000500000000000000" pitchFamily="2" charset="0"/>
                  </a:rPr>
                  <a:t>adalah intercept (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konstanta</a:t>
                </a:r>
                <a:r>
                  <a:rPr lang="en-US" sz="2800" dirty="0">
                    <a:latin typeface="Montserrat" panose="00000500000000000000" pitchFamily="2" charset="0"/>
                  </a:rPr>
                  <a:t>)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1</a:t>
                </a:r>
                <a:r>
                  <a:rPr lang="el-GR" sz="2800" dirty="0"/>
                  <a:t>,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2</a:t>
                </a:r>
                <a:r>
                  <a:rPr lang="el-GR" sz="2800" dirty="0"/>
                  <a:t>,...,</a:t>
                </a:r>
                <a:r>
                  <a:rPr lang="el-GR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Montserrat" panose="00000500000000000000" pitchFamily="2" charset="0"/>
                  </a:rPr>
                  <a:t>n</a:t>
                </a:r>
                <a:r>
                  <a:rPr lang="en-US" sz="2800" dirty="0">
                    <a:latin typeface="Montserrat" panose="00000500000000000000" pitchFamily="2" charset="0"/>
                  </a:rPr>
                  <a:t> = adalah koefisien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regresi</a:t>
                </a:r>
                <a:endParaRPr lang="en-US" sz="2800" dirty="0">
                  <a:latin typeface="Montserrat" panose="00000500000000000000" pitchFamily="2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Montserrat" panose="00000500000000000000" pitchFamily="2" charset="0"/>
                  </a:rPr>
                  <a:t>X</a:t>
                </a:r>
                <a:r>
                  <a:rPr lang="en-US" sz="2000" dirty="0">
                    <a:latin typeface="Montserrat" panose="00000500000000000000" pitchFamily="2" charset="0"/>
                  </a:rPr>
                  <a:t>1</a:t>
                </a:r>
                <a:r>
                  <a:rPr lang="en-US" sz="2800" dirty="0">
                    <a:latin typeface="Montserrat" panose="00000500000000000000" pitchFamily="2" charset="0"/>
                  </a:rPr>
                  <a:t>, X</a:t>
                </a:r>
                <a:r>
                  <a:rPr lang="en-US" sz="2000" dirty="0">
                    <a:latin typeface="Montserrat" panose="00000500000000000000" pitchFamily="2" charset="0"/>
                  </a:rPr>
                  <a:t>2</a:t>
                </a:r>
                <a:r>
                  <a:rPr lang="en-US" sz="2800" dirty="0">
                    <a:latin typeface="Montserrat" panose="00000500000000000000" pitchFamily="2" charset="0"/>
                  </a:rPr>
                  <a:t>,...,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X</a:t>
                </a:r>
                <a:r>
                  <a:rPr lang="en-US" sz="2000" dirty="0" err="1">
                    <a:latin typeface="Montserrat" panose="00000500000000000000" pitchFamily="2" charset="0"/>
                  </a:rPr>
                  <a:t>n</a:t>
                </a:r>
                <a:r>
                  <a:rPr lang="en-US" sz="2800" dirty="0">
                    <a:latin typeface="Montserrat" panose="00000500000000000000" pitchFamily="2" charset="0"/>
                  </a:rPr>
                  <a:t> = adalah variabel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independen</a:t>
                </a:r>
                <a:endParaRPr lang="en-US" sz="2800" dirty="0">
                  <a:latin typeface="Montserrat" panose="00000500000000000000" pitchFamily="2" charset="0"/>
                </a:endParaRPr>
              </a:p>
            </p:txBody>
          </p:sp>
        </mc:Choice>
        <mc:Fallback xmlns="">
          <p:sp>
            <p:nvSpPr>
              <p:cNvPr id="13" name="Google Shape;74;p2">
                <a:extLst>
                  <a:ext uri="{FF2B5EF4-FFF2-40B4-BE49-F238E27FC236}">
                    <a16:creationId xmlns:a16="http://schemas.microsoft.com/office/drawing/2014/main" id="{38E2B685-8547-F305-D86C-524B4AB0C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450" y="3216838"/>
                <a:ext cx="15423097" cy="3749288"/>
              </a:xfrm>
              <a:prstGeom prst="rect">
                <a:avLst/>
              </a:prstGeom>
              <a:blipFill>
                <a:blip r:embed="rId6"/>
                <a:stretch>
                  <a:fillRect l="-1423" b="-29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74;p2">
                <a:extLst>
                  <a:ext uri="{FF2B5EF4-FFF2-40B4-BE49-F238E27FC236}">
                    <a16:creationId xmlns:a16="http://schemas.microsoft.com/office/drawing/2014/main" id="{D1E91C8E-F0DC-562C-A1EA-7FBD52095BB0}"/>
                  </a:ext>
                </a:extLst>
              </p:cNvPr>
              <p:cNvSpPr txBox="1"/>
              <p:nvPr/>
            </p:nvSpPr>
            <p:spPr>
              <a:xfrm>
                <a:off x="1202800" y="8040483"/>
                <a:ext cx="15423097" cy="1739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6025" rIns="0" bIns="0" anchor="t" anchorCtr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Montserrat" panose="00000500000000000000" pitchFamily="2" charset="0"/>
                  </a:rPr>
                  <a:t>Di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sini</a:t>
                </a:r>
                <a:r>
                  <a:rPr lang="en-US" sz="2800" dirty="0">
                    <a:latin typeface="Montserrat" panose="00000500000000000000" pitchFamily="2" charset="0"/>
                  </a:rPr>
                  <a:t>, symbol </a:t>
                </a:r>
                <a:r>
                  <a:rPr lang="el-GR" sz="3600" dirty="0"/>
                  <a:t>θ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sering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digunakan</a:t>
                </a:r>
                <a:r>
                  <a:rPr lang="en-US" sz="2800" dirty="0">
                    <a:latin typeface="Montserrat" panose="00000500000000000000" pitchFamily="2" charset="0"/>
                  </a:rPr>
                  <a:t> dalam Machine Learning sebagai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pengganti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l-GR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Montserrat" panose="00000500000000000000" pitchFamily="2" charset="0"/>
                  </a:rPr>
                  <a:t>yang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lebih</a:t>
                </a:r>
                <a:r>
                  <a:rPr lang="en-US" sz="2800" dirty="0">
                    <a:latin typeface="Montserrat" panose="00000500000000000000" pitchFamily="2" charset="0"/>
                  </a:rPr>
                  <a:t>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umum</a:t>
                </a:r>
                <a:r>
                  <a:rPr lang="en-US" sz="2800" dirty="0">
                    <a:latin typeface="Montserrat" panose="00000500000000000000" pitchFamily="2" charset="0"/>
                  </a:rPr>
                  <a:t> dalam </a:t>
                </a:r>
                <a:r>
                  <a:rPr lang="en-US" sz="2800" dirty="0" err="1">
                    <a:latin typeface="Montserrat" panose="00000500000000000000" pitchFamily="2" charset="0"/>
                  </a:rPr>
                  <a:t>statistik</a:t>
                </a:r>
                <a:r>
                  <a:rPr lang="en-US" sz="2800" dirty="0">
                    <a:latin typeface="Montserrat" panose="000005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Google Shape;74;p2">
                <a:extLst>
                  <a:ext uri="{FF2B5EF4-FFF2-40B4-BE49-F238E27FC236}">
                    <a16:creationId xmlns:a16="http://schemas.microsoft.com/office/drawing/2014/main" id="{D1E91C8E-F0DC-562C-A1EA-7FBD52095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800" y="8040483"/>
                <a:ext cx="15423097" cy="1739187"/>
              </a:xfrm>
              <a:prstGeom prst="rect">
                <a:avLst/>
              </a:prstGeom>
              <a:blipFill>
                <a:blip r:embed="rId7"/>
                <a:stretch>
                  <a:fillRect l="-1383" b="-3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1602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38AE-0790-CAA8-876D-BC88C125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46D3DA43-0CBC-50E4-B8DF-BF01D0EBBD1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A2EEA1E-4F90-906B-6F8F-74852FA0DE00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9567D77-EF67-9081-85EC-A311E0398380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0A279A2-8C6A-C975-96FF-61D8AA55ED44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5C71408-C2C6-DDAA-019F-62D2935F7916}"/>
              </a:ext>
            </a:extLst>
          </p:cNvPr>
          <p:cNvSpPr txBox="1"/>
          <p:nvPr/>
        </p:nvSpPr>
        <p:spPr>
          <a:xfrm>
            <a:off x="1311647" y="4214179"/>
            <a:ext cx="82895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 Algorithm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1423191-48D8-7B4F-675C-7C687449EC08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Regression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6745AAE7-B09F-CC53-3824-460DEF89553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8E1BB4D6-9E2C-2998-88AB-769DA635877B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1265044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DA89F-24FE-BA88-A819-C68E2375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AC78AC-A194-F82E-BBE6-D9FB24914A56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BA405F-FB78-74C9-184C-2CED7DA59A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B0B3DD8-5B95-CB72-6B70-07389950270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522B706-0B2D-FACB-211F-3E916D502B2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01B890B-415A-AE67-FB15-2FD0A4F28B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F97531-0DD9-9BA6-4E20-B7439F88414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24F9A6C-34B4-A74A-4C6D-6FD1CA6C513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E65583-EABC-2DC5-AF72-B058B32C519B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0193B0-4156-C1BB-374E-A4CA70C5C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507" y="3358444"/>
            <a:ext cx="9776588" cy="50506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A44D90-9988-2C5F-8E59-0726AD7A915D}"/>
              </a:ext>
            </a:extLst>
          </p:cNvPr>
          <p:cNvSpPr txBox="1"/>
          <p:nvPr/>
        </p:nvSpPr>
        <p:spPr>
          <a:xfrm>
            <a:off x="2215507" y="4914286"/>
            <a:ext cx="24136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Price</a:t>
            </a:r>
          </a:p>
          <a:p>
            <a:pPr algn="ctr"/>
            <a:r>
              <a:rPr lang="en-US" sz="3200" dirty="0"/>
              <a:t>(in 1000s of dollars)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BAB47D-408E-BAFB-8FBE-78BE824A40AD}"/>
              </a:ext>
            </a:extLst>
          </p:cNvPr>
          <p:cNvSpPr txBox="1"/>
          <p:nvPr/>
        </p:nvSpPr>
        <p:spPr>
          <a:xfrm>
            <a:off x="9987907" y="8643266"/>
            <a:ext cx="1964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Size (feet</a:t>
            </a:r>
            <a:r>
              <a:rPr lang="en-US" sz="3200" baseline="30000" dirty="0"/>
              <a:t>2</a:t>
            </a:r>
            <a:r>
              <a:rPr lang="en-US" sz="32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7E4B8E-909D-1614-8F7D-DF3DD7BC082F}"/>
              </a:ext>
            </a:extLst>
          </p:cNvPr>
          <p:cNvSpPr txBox="1"/>
          <p:nvPr/>
        </p:nvSpPr>
        <p:spPr>
          <a:xfrm>
            <a:off x="1143000" y="1908257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Housing Prices (Portland, OR)</a:t>
            </a:r>
          </a:p>
        </p:txBody>
      </p:sp>
    </p:spTree>
    <p:extLst>
      <p:ext uri="{BB962C8B-B14F-4D97-AF65-F5344CB8AC3E}">
        <p14:creationId xmlns:p14="http://schemas.microsoft.com/office/powerpoint/2010/main" val="239806404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FAB23-701A-97D1-29B6-A03A84A2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CDEC5C3-FB20-EEEB-D008-A5342721FD61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1B9A99-0357-5BEA-3B8D-6A0D5EA2D5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0E3935F-5879-1148-339C-BF2FABB3B2D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E7E53AC-5D31-93CE-EB15-FDF3BB67267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F6252F-0D97-F5B6-FE17-ABA63CB038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F0C244-E8E2-BA35-B730-B0FF1A21351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BF43451-ECE7-4850-13DA-C3907B14553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FBB9997-1EBD-0211-2C30-8EAD8FFDC8F4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49C98-9413-99DA-C32F-3475C0180C2D}"/>
              </a:ext>
            </a:extLst>
          </p:cNvPr>
          <p:cNvSpPr txBox="1"/>
          <p:nvPr/>
        </p:nvSpPr>
        <p:spPr>
          <a:xfrm>
            <a:off x="4604825" y="1737847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F8FD95-AF93-E462-0BC0-7F4888497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38752"/>
            <a:ext cx="9683728" cy="4626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7BB584-392D-CA5F-FEB6-42A9F8F74CBE}"/>
              </a:ext>
            </a:extLst>
          </p:cNvPr>
          <p:cNvSpPr txBox="1"/>
          <p:nvPr/>
        </p:nvSpPr>
        <p:spPr>
          <a:xfrm>
            <a:off x="1277237" y="7076335"/>
            <a:ext cx="7563289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Notation: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m</a:t>
            </a:r>
            <a:r>
              <a:rPr lang="en-US" sz="2800" dirty="0">
                <a:latin typeface="Montserrat" panose="00000500000000000000" pitchFamily="2" charset="0"/>
              </a:rPr>
              <a:t> = Number of training 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’s = “input” variable / features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y</a:t>
            </a:r>
            <a:r>
              <a:rPr lang="en-US" sz="2800" dirty="0">
                <a:latin typeface="Montserrat" panose="00000500000000000000" pitchFamily="2" charset="0"/>
              </a:rPr>
              <a:t>’s = “output” variable / “target” variable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4E0B3C-7399-9C1F-B62A-235391C2C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8214" y="2905027"/>
            <a:ext cx="6248399" cy="426027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1908C8B-87C5-8CFC-5F22-ABF466FD0C42}"/>
              </a:ext>
            </a:extLst>
          </p:cNvPr>
          <p:cNvSpPr txBox="1"/>
          <p:nvPr/>
        </p:nvSpPr>
        <p:spPr>
          <a:xfrm>
            <a:off x="12179873" y="7300578"/>
            <a:ext cx="5165080" cy="195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jika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ada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rumah baru dengan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luas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 1600 feet², berapa </a:t>
            </a:r>
            <a:r>
              <a:rPr lang="en-US" sz="2800" dirty="0" err="1">
                <a:solidFill>
                  <a:srgbClr val="FF0000"/>
                </a:solidFill>
                <a:latin typeface="Montserrat" panose="00000500000000000000" pitchFamily="2" charset="0"/>
              </a:rPr>
              <a:t>harganya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?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445520C-1196-2878-7C41-6D841E07BACC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14303667" y="6841832"/>
            <a:ext cx="785478" cy="13201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51872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CD3C9-121E-C657-1456-3302563D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00F219-F537-98E0-8818-05D18BC806D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2DE0536-D7E2-DBD6-CB15-B29862D38B4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01E49F-3B49-DB2D-6326-8F543D51D92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87B3A76-8F54-F7EA-016A-CC4FEBD6A8F9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CF361D-B15F-BB3E-A5B4-6E16C65032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5712808-B36D-556E-48C4-27426F7DACE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170F04B-D828-02C9-42D9-CD6B3556049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0A446D9-FF57-B25B-7187-A12EB48DFC28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B70A10-0465-F6C0-B00C-99527E7FBA1F}"/>
              </a:ext>
            </a:extLst>
          </p:cNvPr>
          <p:cNvSpPr txBox="1"/>
          <p:nvPr/>
        </p:nvSpPr>
        <p:spPr>
          <a:xfrm>
            <a:off x="1261997" y="2192280"/>
            <a:ext cx="10157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20993E-E551-F401-4E51-0A1BF5888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997" y="3360404"/>
            <a:ext cx="7699805" cy="3678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1463D-3153-86E9-A661-9F2819C9C23C}"/>
              </a:ext>
            </a:extLst>
          </p:cNvPr>
          <p:cNvSpPr txBox="1"/>
          <p:nvPr/>
        </p:nvSpPr>
        <p:spPr>
          <a:xfrm>
            <a:off x="1277237" y="7076335"/>
            <a:ext cx="7563289" cy="2604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Notation: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m</a:t>
            </a:r>
            <a:r>
              <a:rPr lang="en-US" sz="2800" dirty="0">
                <a:latin typeface="Montserrat" panose="00000500000000000000" pitchFamily="2" charset="0"/>
              </a:rPr>
              <a:t> = Number of training examples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’s = “input” variable / features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   </a:t>
            </a:r>
            <a:r>
              <a:rPr lang="en-US" sz="2800" b="1" dirty="0">
                <a:latin typeface="Montserrat" panose="00000500000000000000" pitchFamily="2" charset="0"/>
              </a:rPr>
              <a:t>y</a:t>
            </a:r>
            <a:r>
              <a:rPr lang="en-US" sz="2800" dirty="0">
                <a:latin typeface="Montserrat" panose="00000500000000000000" pitchFamily="2" charset="0"/>
              </a:rPr>
              <a:t>’s = “output” variable / “target” variable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B1B5A6-8059-97BD-3DCA-F1FB11ECCEB5}"/>
              </a:ext>
            </a:extLst>
          </p:cNvPr>
          <p:cNvSpPr txBox="1"/>
          <p:nvPr/>
        </p:nvSpPr>
        <p:spPr>
          <a:xfrm>
            <a:off x="9601200" y="4543676"/>
            <a:ext cx="5165080" cy="131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Bagaimana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kita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merepresentasikan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h?</a:t>
            </a:r>
          </a:p>
        </p:txBody>
      </p:sp>
    </p:spTree>
    <p:extLst>
      <p:ext uri="{BB962C8B-B14F-4D97-AF65-F5344CB8AC3E}">
        <p14:creationId xmlns:p14="http://schemas.microsoft.com/office/powerpoint/2010/main" val="79252819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BB609-7637-0290-4F7A-23BAE8F8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7C8E49-53B6-9210-6C65-BD64DF1A2AC5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EAB046-81D4-CA42-0F6D-8F911DB11C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BA8B25-B46F-8CF8-EFA8-CBECB61907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030A175-FAB6-8BF8-F1F5-7D8017AA41C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380F3E-A4A9-8F62-B532-0E1B609B0F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4B35FA-B43D-F509-4F7B-7DF28923E6D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25FFEC3-3350-50D5-5FDF-CF946AF2C23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89A6E15-11E1-4BF7-680E-CC2C7B84F93B}"/>
              </a:ext>
            </a:extLst>
          </p:cNvPr>
          <p:cNvSpPr txBox="1"/>
          <p:nvPr/>
        </p:nvSpPr>
        <p:spPr>
          <a:xfrm>
            <a:off x="751416" y="848382"/>
            <a:ext cx="135741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Membuat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(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Hipotesis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2746EC-5C5E-33B7-78A7-D76468C33434}"/>
              </a:ext>
            </a:extLst>
          </p:cNvPr>
          <p:cNvSpPr txBox="1"/>
          <p:nvPr/>
        </p:nvSpPr>
        <p:spPr>
          <a:xfrm>
            <a:off x="1261997" y="2192280"/>
            <a:ext cx="37672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tserrat" panose="00000500000000000000" pitchFamily="2" charset="0"/>
              </a:rPr>
              <a:t>Training set of Housing Prices (Portland, OR)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C8C46B-6402-EC6B-0AA3-2C06DB832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157879"/>
            <a:ext cx="7699805" cy="367869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B0D367E-8451-BB15-601D-5581B97EDD01}"/>
              </a:ext>
            </a:extLst>
          </p:cNvPr>
          <p:cNvSpPr txBox="1"/>
          <p:nvPr/>
        </p:nvSpPr>
        <p:spPr>
          <a:xfrm>
            <a:off x="13414805" y="3341151"/>
            <a:ext cx="5165080" cy="1312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Bagaimana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kita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merepresentasikan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 h?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EEAF9D-7E4B-7270-EDDD-E4426D0B0A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16" y="6603275"/>
            <a:ext cx="3377081" cy="4699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4DD219-32D2-625C-F363-26ADCC011C8B}"/>
              </a:ext>
            </a:extLst>
          </p:cNvPr>
          <p:cNvSpPr txBox="1"/>
          <p:nvPr/>
        </p:nvSpPr>
        <p:spPr>
          <a:xfrm>
            <a:off x="1261997" y="6517441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593B4-F1D2-8F7D-D56B-852129CFEF48}"/>
              </a:ext>
            </a:extLst>
          </p:cNvPr>
          <p:cNvSpPr txBox="1"/>
          <p:nvPr/>
        </p:nvSpPr>
        <p:spPr>
          <a:xfrm>
            <a:off x="1292477" y="7509945"/>
            <a:ext cx="3766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choose     ‘s 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94C28A-9B6A-9FB5-42FC-29B3A1F9C46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7638246"/>
            <a:ext cx="315615" cy="40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756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3E4E8-6486-EF94-950E-4C3AF110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5E56E0-BBD4-95F4-EA89-9A04F9E3AA0E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C4D0FB-ABFE-9559-6132-02310B9CAB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35029C-5195-3B52-E0F0-0978736672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19BEE08-1C97-547A-815C-F862C779231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0B46150-4184-9300-5938-6B38A81619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51D44D9-650A-9A10-59DA-691ABFD8F2B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5E6941E-92A0-BC11-54D1-E3E5FCD3B71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3B6F-D358-7ABB-425F-694914056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9606" y="3064824"/>
            <a:ext cx="14495070" cy="39170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F5DD6E-A753-13A3-000A-18B9897C3E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0" y="7332862"/>
            <a:ext cx="1403544" cy="9077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CA3C80-C10D-99ED-DAB1-CEDB75889A5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617" y="7237658"/>
            <a:ext cx="1672762" cy="10029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5CFC06-5478-172F-589F-69A79A5158E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160" y="7237658"/>
            <a:ext cx="1521300" cy="9121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7C7CA4-49BA-25C0-955F-492DDAC3276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717" y="1968046"/>
            <a:ext cx="3956931" cy="550601"/>
          </a:xfrm>
          <a:prstGeom prst="rect">
            <a:avLst/>
          </a:prstGeom>
        </p:spPr>
      </p:pic>
      <p:sp>
        <p:nvSpPr>
          <p:cNvPr id="21" name="TextBox 12">
            <a:extLst>
              <a:ext uri="{FF2B5EF4-FFF2-40B4-BE49-F238E27FC236}">
                <a16:creationId xmlns:a16="http://schemas.microsoft.com/office/drawing/2014/main" id="{9CC8F6BC-2E47-B66A-3846-CC8DC009A337}"/>
              </a:ext>
            </a:extLst>
          </p:cNvPr>
          <p:cNvSpPr txBox="1"/>
          <p:nvPr/>
        </p:nvSpPr>
        <p:spPr>
          <a:xfrm>
            <a:off x="751416" y="848382"/>
            <a:ext cx="135741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Membuat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(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Hipotesis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898057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C7A40-3436-A277-DDBD-ECCB89E1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359610-8564-D665-209F-B6A73D28E89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A70E06-3037-31D4-2BD5-8FD859AB1A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637672-97D9-FD3E-3C0C-EFE8A6F7179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8D487B-705B-76AA-BC8A-740D3B133D0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1B10D09-83C6-D1FA-4B8F-101D915C00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5EA1705-1F1D-F071-150E-2DDA959A75E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49095BE-6683-324B-8D5F-BC16513DBAB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5AF7396-4D99-CC8E-BFEB-374506D258CF}"/>
              </a:ext>
            </a:extLst>
          </p:cNvPr>
          <p:cNvSpPr txBox="1"/>
          <p:nvPr/>
        </p:nvSpPr>
        <p:spPr>
          <a:xfrm>
            <a:off x="751417" y="644167"/>
            <a:ext cx="15021984" cy="163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 : </a:t>
            </a:r>
          </a:p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Seberapa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bagus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prediksi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kita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? (Cost Function)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735A4620-D2E5-F2E9-D6EF-70C8AAA4A031}"/>
              </a:ext>
            </a:extLst>
          </p:cNvPr>
          <p:cNvSpPr txBox="1"/>
          <p:nvPr/>
        </p:nvSpPr>
        <p:spPr>
          <a:xfrm>
            <a:off x="1277237" y="2553151"/>
            <a:ext cx="15423097" cy="21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None/>
            </a:pPr>
            <a:r>
              <a:rPr lang="en-US" sz="2800" dirty="0" err="1">
                <a:latin typeface="Montserrat" panose="00000500000000000000" pitchFamily="2" charset="0"/>
              </a:rPr>
              <a:t>Setelah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membuat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hipotesis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coba </a:t>
            </a:r>
            <a:r>
              <a:rPr lang="en-US" sz="2800" dirty="0" err="1">
                <a:latin typeface="Montserrat" panose="00000500000000000000" pitchFamily="2" charset="0"/>
              </a:rPr>
              <a:t>gunakan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beberapa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l-GR" sz="2800" dirty="0"/>
              <a:t>θ0​ </a:t>
            </a:r>
            <a:r>
              <a:rPr lang="en-US" sz="2800" dirty="0">
                <a:latin typeface="Montserrat" panose="00000500000000000000" pitchFamily="2" charset="0"/>
              </a:rPr>
              <a:t>dan </a:t>
            </a:r>
            <a:r>
              <a:rPr lang="el-GR" sz="2800" dirty="0"/>
              <a:t>θ1. </a:t>
            </a:r>
            <a:endParaRPr lang="en-US" sz="2800" dirty="0"/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Tapi, bagaimana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tahu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apakah</a:t>
            </a:r>
            <a:r>
              <a:rPr lang="en-US" sz="2800" dirty="0">
                <a:latin typeface="Montserrat" panose="00000500000000000000" pitchFamily="2" charset="0"/>
              </a:rPr>
              <a:t> model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bagus </a:t>
            </a:r>
            <a:r>
              <a:rPr lang="en-US" sz="2800" b="1" dirty="0" err="1">
                <a:latin typeface="Montserrat" panose="00000500000000000000" pitchFamily="2" charset="0"/>
              </a:rPr>
              <a:t>atau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jelek</a:t>
            </a:r>
            <a:r>
              <a:rPr lang="en-US" sz="2800" dirty="0">
                <a:latin typeface="Montserrat" panose="00000500000000000000" pitchFamily="2" charset="0"/>
              </a:rPr>
              <a:t>?</a:t>
            </a:r>
          </a:p>
          <a:p>
            <a:pPr algn="just">
              <a:buNone/>
            </a:pPr>
            <a:endParaRPr lang="en-US" sz="28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en-US" sz="2800" dirty="0">
                <a:latin typeface="Montserrat" panose="00000500000000000000" pitchFamily="2" charset="0"/>
              </a:rPr>
              <a:t>Di </a:t>
            </a:r>
            <a:r>
              <a:rPr lang="en-US" sz="2800" dirty="0" err="1">
                <a:latin typeface="Montserrat" panose="00000500000000000000" pitchFamily="2" charset="0"/>
              </a:rPr>
              <a:t>sinilah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menggunakan </a:t>
            </a:r>
            <a:r>
              <a:rPr lang="en-US" sz="2800" b="1" dirty="0">
                <a:latin typeface="Montserrat" panose="00000500000000000000" pitchFamily="2" charset="0"/>
              </a:rPr>
              <a:t>Cost Function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F6A925-84E7-7FC9-415D-FE8F6A649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340" y="4794317"/>
            <a:ext cx="6529309" cy="1546889"/>
          </a:xfrm>
          <a:prstGeom prst="rect">
            <a:avLst/>
          </a:prstGeom>
        </p:spPr>
      </p:pic>
      <p:sp>
        <p:nvSpPr>
          <p:cNvPr id="14" name="Google Shape;74;p2">
            <a:extLst>
              <a:ext uri="{FF2B5EF4-FFF2-40B4-BE49-F238E27FC236}">
                <a16:creationId xmlns:a16="http://schemas.microsoft.com/office/drawing/2014/main" id="{AE5601C1-CCB7-A9AA-CCE5-CE71554AF520}"/>
              </a:ext>
            </a:extLst>
          </p:cNvPr>
          <p:cNvSpPr txBox="1"/>
          <p:nvPr/>
        </p:nvSpPr>
        <p:spPr>
          <a:xfrm>
            <a:off x="1432447" y="6438145"/>
            <a:ext cx="15423097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Dimana: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 = Jumlah data rumah.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h</a:t>
            </a:r>
            <a:r>
              <a:rPr lang="el-GR" sz="2800" dirty="0"/>
              <a:t>θ(</a:t>
            </a:r>
            <a:r>
              <a:rPr lang="en-US" sz="2800" dirty="0">
                <a:latin typeface="Montserrat" panose="00000500000000000000" pitchFamily="2" charset="0"/>
              </a:rPr>
              <a:t>x(i) = Harga rumah </a:t>
            </a:r>
            <a:r>
              <a:rPr lang="en-US" sz="2800" dirty="0" err="1">
                <a:latin typeface="Montserrat" panose="00000500000000000000" pitchFamily="2" charset="0"/>
              </a:rPr>
              <a:t>hasil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y(i) = Harga rumah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23586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07302-8586-9381-AFEB-C0F22046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5B8F2A-6060-F834-CCD0-ED90DB0CF3C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E500E6-CE29-C7AB-2A90-1C943A050EA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1DA1E5-01E5-83F5-A321-311DD080CE2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5944F5A-DDA5-4F4E-248F-44A74B5A380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0AEEDE-0201-DD74-C5B3-9083332825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DFA493-1E74-F944-6408-F74ABA104A5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026D8CF-7923-9677-834D-E851BC25E9D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93389CE-41E6-9739-B096-CA19D3C5FE83}"/>
              </a:ext>
            </a:extLst>
          </p:cNvPr>
          <p:cNvSpPr txBox="1"/>
          <p:nvPr/>
        </p:nvSpPr>
        <p:spPr>
          <a:xfrm>
            <a:off x="751416" y="644167"/>
            <a:ext cx="15783983" cy="1886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Memperbaiki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model: </a:t>
            </a:r>
          </a:p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Bagaimana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cara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menemukan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parameter terbaik?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218AC9D1-FE26-71E2-DA37-A3A60EE23205}"/>
              </a:ext>
            </a:extLst>
          </p:cNvPr>
          <p:cNvSpPr txBox="1"/>
          <p:nvPr/>
        </p:nvSpPr>
        <p:spPr>
          <a:xfrm>
            <a:off x="1277242" y="3095347"/>
            <a:ext cx="15423097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Jika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asal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l-GR" sz="2800" dirty="0"/>
              <a:t>θ0​ </a:t>
            </a:r>
            <a:r>
              <a:rPr lang="en-US" sz="2800" dirty="0">
                <a:latin typeface="Montserrat" panose="00000500000000000000" pitchFamily="2" charset="0"/>
              </a:rPr>
              <a:t>dan </a:t>
            </a:r>
            <a:r>
              <a:rPr lang="el-GR" sz="2800" dirty="0"/>
              <a:t>θ1​, </a:t>
            </a:r>
            <a:r>
              <a:rPr lang="en-US" sz="2800" dirty="0">
                <a:latin typeface="Montserrat" panose="00000500000000000000" pitchFamily="2" charset="0"/>
              </a:rPr>
              <a:t>kemungkinan besar </a:t>
            </a:r>
            <a:r>
              <a:rPr lang="en-US" sz="2800" b="1" dirty="0">
                <a:latin typeface="Montserrat" panose="00000500000000000000" pitchFamily="2" charset="0"/>
              </a:rPr>
              <a:t>model </a:t>
            </a:r>
            <a:r>
              <a:rPr lang="en-US" sz="2800" b="1" dirty="0" err="1">
                <a:latin typeface="Montserrat" panose="00000500000000000000" pitchFamily="2" charset="0"/>
              </a:rPr>
              <a:t>kita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akan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buruk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>
                <a:latin typeface="Montserrat" panose="00000500000000000000" pitchFamily="2" charset="0"/>
              </a:rPr>
              <a:t>Jadi,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butuh </a:t>
            </a:r>
            <a:r>
              <a:rPr lang="en-US" sz="2800" dirty="0" err="1">
                <a:latin typeface="Montserrat" panose="00000500000000000000" pitchFamily="2" charset="0"/>
              </a:rPr>
              <a:t>cara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b="1" dirty="0" err="1">
                <a:latin typeface="Montserrat" panose="00000500000000000000" pitchFamily="2" charset="0"/>
              </a:rPr>
              <a:t>menyesuaikan</a:t>
            </a:r>
            <a:r>
              <a:rPr lang="en-US" sz="2800" b="1" dirty="0">
                <a:latin typeface="Montserrat" panose="00000500000000000000" pitchFamily="2" charset="0"/>
              </a:rPr>
              <a:t> parameter</a:t>
            </a:r>
            <a:r>
              <a:rPr lang="en-US" sz="2800" dirty="0">
                <a:latin typeface="Montserrat" panose="00000500000000000000" pitchFamily="2" charset="0"/>
              </a:rPr>
              <a:t> agar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mendekati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harga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asli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Metode yang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gunakan</a:t>
            </a:r>
            <a:r>
              <a:rPr lang="en-US" sz="2800" dirty="0">
                <a:latin typeface="Montserrat" panose="00000500000000000000" pitchFamily="2" charset="0"/>
              </a:rPr>
              <a:t> adalah </a:t>
            </a:r>
            <a:r>
              <a:rPr lang="en-US" sz="2800" b="1" dirty="0">
                <a:latin typeface="Montserrat" panose="00000500000000000000" pitchFamily="2" charset="0"/>
              </a:rPr>
              <a:t>Gradient Descent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933FBA-22C1-96AC-535F-A647109B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213" y="5949727"/>
            <a:ext cx="4845574" cy="145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81538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F46DF-7576-7930-A3C7-496C2362F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88EA25-42D6-D9CD-B13C-ACF34651A49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A991C0-D89A-897B-8D02-AB16FB9A78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DA70C6C-8A97-3AD2-D141-FD4E4B4AD2F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A1E05CF-2707-9C3E-E0A8-52F5A811F35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ED1319-DF3F-1CE9-7E50-FC9C700F58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CB7F1A1-2F51-8BE2-3E0E-B7A8D1F4929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132A9AF-35EC-E629-9152-D478D15B205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7F9814-47F6-6E1E-49E6-9FE7EF9A5184}"/>
              </a:ext>
            </a:extLst>
          </p:cNvPr>
          <p:cNvSpPr txBox="1"/>
          <p:nvPr/>
        </p:nvSpPr>
        <p:spPr>
          <a:xfrm>
            <a:off x="751416" y="848382"/>
            <a:ext cx="8392584" cy="61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Linear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Regresi</a:t>
            </a:r>
            <a:endParaRPr lang="en-US" sz="4400" b="1" spc="145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4D766F-CFAF-D898-E4E9-4A2B33810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16" y="1587208"/>
            <a:ext cx="15021984" cy="77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0100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4E8BE-FAF3-5071-11B3-A3AC8C61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51F65D-C3CA-4D79-12C8-AD9970CB9B27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77636E-DCCC-5195-C641-E209F73578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1E1A1E-825B-4563-9DCF-88EDF547E19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3A08BBC-57E7-690C-173C-DCD944A3C43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4B1525-5443-6E1D-E7FB-EA37EFB15C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4CD2A4-40BA-636D-7BAE-4E412ACFFB7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7616C7D-12D0-06F3-D025-5709994048E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FBC8B76-68AB-EB16-BAA7-8C8A3ADC726E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Kesimpulan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89767879-5B96-4522-54FE-067A76B4EED6}"/>
              </a:ext>
            </a:extLst>
          </p:cNvPr>
          <p:cNvSpPr txBox="1"/>
          <p:nvPr/>
        </p:nvSpPr>
        <p:spPr>
          <a:xfrm>
            <a:off x="1432451" y="2005350"/>
            <a:ext cx="15423097" cy="6900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 Kita </a:t>
            </a:r>
            <a:r>
              <a:rPr lang="en-US" sz="2800" b="1" dirty="0" err="1">
                <a:latin typeface="Montserrat" panose="00000500000000000000" pitchFamily="2" charset="0"/>
              </a:rPr>
              <a:t>ingin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memprediksi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harga</a:t>
            </a:r>
            <a:r>
              <a:rPr lang="en-US" sz="2800" b="1" dirty="0">
                <a:latin typeface="Montserrat" panose="00000500000000000000" pitchFamily="2" charset="0"/>
              </a:rPr>
              <a:t> rumah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berdasarkan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ukuran</a:t>
            </a:r>
            <a:r>
              <a:rPr lang="en-US" sz="2800" dirty="0">
                <a:latin typeface="Montserrat" panose="00000500000000000000" pitchFamily="2" charset="0"/>
              </a:rPr>
              <a:t> rumah.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buat model </a:t>
            </a:r>
            <a:r>
              <a:rPr lang="en-US" sz="2800" b="1" dirty="0" err="1">
                <a:latin typeface="Montserrat" panose="00000500000000000000" pitchFamily="2" charset="0"/>
              </a:rPr>
              <a:t>sederhana</a:t>
            </a:r>
            <a:r>
              <a:rPr lang="en-US" sz="2800" b="1" dirty="0">
                <a:latin typeface="Montserrat" panose="00000500000000000000" pitchFamily="2" charset="0"/>
              </a:rPr>
              <a:t> h</a:t>
            </a:r>
            <a:r>
              <a:rPr lang="el-GR" sz="2800" b="1" dirty="0"/>
              <a:t>θ(</a:t>
            </a:r>
            <a:r>
              <a:rPr lang="en-US" sz="2800" b="1" dirty="0">
                <a:latin typeface="Montserrat" panose="00000500000000000000" pitchFamily="2" charset="0"/>
              </a:rPr>
              <a:t>x) = </a:t>
            </a:r>
            <a:r>
              <a:rPr lang="el-GR" sz="2800" b="1" dirty="0"/>
              <a:t>θ0​+θ1​</a:t>
            </a:r>
            <a:r>
              <a:rPr lang="en-US" sz="2800" b="1" dirty="0">
                <a:latin typeface="Montserrat" panose="00000500000000000000" pitchFamily="2" charset="0"/>
              </a:rPr>
              <a:t>x</a:t>
            </a:r>
            <a:r>
              <a:rPr lang="en-US" sz="2800" dirty="0">
                <a:latin typeface="Montserrat" panose="00000500000000000000" pitchFamily="2" charset="0"/>
              </a:rPr>
              <a:t> agar mudah </a:t>
            </a:r>
            <a:r>
              <a:rPr lang="en-US" sz="2800" dirty="0" err="1">
                <a:latin typeface="Montserrat" panose="00000500000000000000" pitchFamily="2" charset="0"/>
              </a:rPr>
              <a:t>dipahami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</a:t>
            </a:r>
            <a:r>
              <a:rPr lang="en-US" sz="2800" b="1" dirty="0" err="1">
                <a:latin typeface="Montserrat" panose="00000500000000000000" pitchFamily="2" charset="0"/>
              </a:rPr>
              <a:t>ukur</a:t>
            </a:r>
            <a:r>
              <a:rPr lang="en-US" sz="2800" b="1" dirty="0">
                <a:latin typeface="Montserrat" panose="00000500000000000000" pitchFamily="2" charset="0"/>
              </a:rPr>
              <a:t> error dengan Cost Function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tahu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seberapa</a:t>
            </a:r>
            <a:r>
              <a:rPr lang="en-US" sz="2800" dirty="0">
                <a:latin typeface="Montserrat" panose="00000500000000000000" pitchFamily="2" charset="0"/>
              </a:rPr>
              <a:t> baik model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800" b="1" dirty="0">
                <a:latin typeface="Montserrat" panose="00000500000000000000" pitchFamily="2" charset="0"/>
              </a:rPr>
              <a:t>Kita </a:t>
            </a:r>
            <a:r>
              <a:rPr lang="en-US" sz="2800" b="1" dirty="0" err="1">
                <a:latin typeface="Montserrat" panose="00000500000000000000" pitchFamily="2" charset="0"/>
              </a:rPr>
              <a:t>gunakan</a:t>
            </a:r>
            <a:r>
              <a:rPr lang="en-US" sz="2800" b="1" dirty="0">
                <a:latin typeface="Montserrat" panose="00000500000000000000" pitchFamily="2" charset="0"/>
              </a:rPr>
              <a:t> Gradient Descent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menemukan</a:t>
            </a:r>
            <a:r>
              <a:rPr lang="en-US" sz="2800" dirty="0">
                <a:latin typeface="Montserrat" panose="00000500000000000000" pitchFamily="2" charset="0"/>
              </a:rPr>
              <a:t> parameter terbaik.</a:t>
            </a:r>
          </a:p>
          <a:p>
            <a:pPr>
              <a:lnSpc>
                <a:spcPct val="20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200000"/>
              </a:lnSpc>
            </a:pP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Intinya</a:t>
            </a:r>
            <a:r>
              <a:rPr lang="en-US" sz="2800" b="1" dirty="0">
                <a:latin typeface="Montserrat" panose="00000500000000000000" pitchFamily="2" charset="0"/>
              </a:rPr>
              <a:t>:</a:t>
            </a:r>
            <a:r>
              <a:rPr lang="en-US" sz="2800" dirty="0">
                <a:latin typeface="Montserrat" panose="00000500000000000000" pitchFamily="2" charset="0"/>
              </a:rPr>
              <a:t> Kita </a:t>
            </a:r>
            <a:r>
              <a:rPr lang="en-US" sz="2800" dirty="0" err="1">
                <a:latin typeface="Montserrat" panose="00000500000000000000" pitchFamily="2" charset="0"/>
              </a:rPr>
              <a:t>memulai</a:t>
            </a:r>
            <a:r>
              <a:rPr lang="en-US" sz="2800" dirty="0">
                <a:latin typeface="Montserrat" panose="00000500000000000000" pitchFamily="2" charset="0"/>
              </a:rPr>
              <a:t> dengan </a:t>
            </a:r>
            <a:r>
              <a:rPr lang="en-US" sz="2800" dirty="0" err="1">
                <a:latin typeface="Montserrat" panose="00000500000000000000" pitchFamily="2" charset="0"/>
              </a:rPr>
              <a:t>dugaan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sederhana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mengukur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kesalahan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lalu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menyempurnakannya</a:t>
            </a:r>
            <a:r>
              <a:rPr lang="en-US" sz="2800" dirty="0">
                <a:latin typeface="Montserrat" panose="00000500000000000000" pitchFamily="2" charset="0"/>
              </a:rPr>
              <a:t> dengan </a:t>
            </a:r>
            <a:r>
              <a:rPr lang="en-US" sz="2800" dirty="0" err="1">
                <a:latin typeface="Montserrat" panose="00000500000000000000" pitchFamily="2" charset="0"/>
              </a:rPr>
              <a:t>optimasi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hingga</a:t>
            </a:r>
            <a:r>
              <a:rPr lang="en-US" sz="2800" dirty="0">
                <a:latin typeface="Montserrat" panose="00000500000000000000" pitchFamily="2" charset="0"/>
              </a:rPr>
              <a:t> mendapatkan model terbaik untuk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harga</a:t>
            </a:r>
            <a:r>
              <a:rPr lang="en-US" sz="2800" dirty="0">
                <a:latin typeface="Montserrat" panose="00000500000000000000" pitchFamily="2" charset="0"/>
              </a:rPr>
              <a:t> rumah.</a:t>
            </a:r>
          </a:p>
        </p:txBody>
      </p:sp>
    </p:spTree>
    <p:extLst>
      <p:ext uri="{BB962C8B-B14F-4D97-AF65-F5344CB8AC3E}">
        <p14:creationId xmlns:p14="http://schemas.microsoft.com/office/powerpoint/2010/main" val="1003342427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5536F-223A-013A-E373-8A4A227F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B0304EA7-F8F9-5A1F-0167-E1DB403A6826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E7B6515-E7DA-0799-0881-177B9673AD88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405663A-DE8F-F3E9-17D6-C933B318249C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F8FA2D43-9942-1D7D-BA0F-B66694A8DEC7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B108CD5-4366-22AB-4D7A-784F1911A413}"/>
              </a:ext>
            </a:extLst>
          </p:cNvPr>
          <p:cNvSpPr txBox="1"/>
          <p:nvPr/>
        </p:nvSpPr>
        <p:spPr>
          <a:xfrm>
            <a:off x="1311647" y="4214179"/>
            <a:ext cx="82895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Regression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EBFFA9-5765-147A-300A-D7499C9289F7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Algorithm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05AABF2-A0BD-5C94-DADF-0FA5B0270F2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784B766E-5F8A-575D-583B-6D7AF24687F9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7554539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A8A87-7CA9-086E-6E0D-C6584978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4D507F8-390C-D76F-3F0E-4BC2BDF0D2DA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6CE2EF-BEDF-4F37-5A33-5841B996E4F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3FD0A6-C042-4889-E7C0-BC9B80D2FE6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959C941-2EA0-ED56-3AD9-2DB03906A12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1A6B483-0A8A-38B2-C0C1-3CD92134D590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D57770-39EF-2B14-789D-39121598BE2F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Polynomial Regression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EFF7BDC-3716-2B93-C987-B9747516B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29918"/>
            <a:ext cx="12954000" cy="7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BDA19C1E-3294-F584-D6CD-271886AD30C9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5736252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3C41-B2BD-D646-34A0-1372A8BE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8351FB-26AA-6691-CB4E-29C51F7A587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5B4CD5-2314-F35C-4CCF-027D78DA8738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8E3F7E-C3E4-C735-92E1-B9214595ADB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62AE760-ACEF-DA35-3113-9B95AC3F5E9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C441FC1-F610-1315-7ADA-3E6FFA27D67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C9375A-B93A-AABE-42B3-2A319BB86E28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Polynomial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3A7F18-3430-A0A6-0A57-B7E01A14BC56}"/>
              </a:ext>
            </a:extLst>
          </p:cNvPr>
          <p:cNvSpPr txBox="1"/>
          <p:nvPr/>
        </p:nvSpPr>
        <p:spPr>
          <a:xfrm>
            <a:off x="769002" y="2935502"/>
            <a:ext cx="15591442" cy="1866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0" i="0" dirty="0">
                <a:effectLst/>
                <a:latin typeface="Montserrat" panose="00000500000000000000" pitchFamily="2" charset="0"/>
              </a:rPr>
              <a:t>Polynomial Regression (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polinomial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) adalah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bentuk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lanjutan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dari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linear yang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digunakan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untuk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memodelkan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hubungan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antara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variabel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independen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dan variabel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dependen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ketika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hubungan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tersebut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tidak linear.</a:t>
            </a:r>
            <a:endParaRPr lang="en-US" sz="2656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1065BFB-B309-2529-FBCB-6067EDC00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564" y="5143500"/>
            <a:ext cx="1097915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C6A998-C875-9674-705F-4EFFCBF251C5}"/>
              </a:ext>
            </a:extLst>
          </p:cNvPr>
          <p:cNvSpPr txBox="1"/>
          <p:nvPr/>
        </p:nvSpPr>
        <p:spPr>
          <a:xfrm>
            <a:off x="769002" y="6817671"/>
            <a:ext cx="8547481" cy="2512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Kapan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perlu menggunakan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polinomial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?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Ia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digunakan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effectLst/>
                <a:latin typeface="Montserrat" panose="00000500000000000000" pitchFamily="2" charset="0"/>
              </a:rPr>
              <a:t>ketika</a:t>
            </a:r>
            <a:r>
              <a:rPr lang="en-US" sz="2800" b="0" i="0" dirty="0">
                <a:effectLst/>
                <a:latin typeface="Montserrat" panose="00000500000000000000" pitchFamily="2" charset="0"/>
              </a:rPr>
              <a:t> data menunjukkan 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hubungan non-linear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antara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 variabel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independen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 dan </a:t>
            </a:r>
            <a:r>
              <a:rPr lang="en-US" sz="2800" b="1" i="0" dirty="0" err="1">
                <a:effectLst/>
                <a:latin typeface="Montserrat" panose="00000500000000000000" pitchFamily="2" charset="0"/>
              </a:rPr>
              <a:t>dependen</a:t>
            </a:r>
            <a:r>
              <a:rPr lang="en-US" sz="2800" b="1" i="0" dirty="0">
                <a:effectLst/>
                <a:latin typeface="Montserrat" panose="00000500000000000000" pitchFamily="2" charset="0"/>
              </a:rPr>
              <a:t>. </a:t>
            </a:r>
            <a:endParaRPr lang="en-US" sz="2656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2949C5-658B-7B25-E998-57C30B4AD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6246805"/>
            <a:ext cx="5197018" cy="350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62394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4E00-DB8B-70EF-5CC3-BE31688F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366F3B-4882-7478-14DC-716F39DC59F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6D1E5A-214A-A8C7-B818-BDA186FBA9F1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45F3C1-9D3D-7008-3F1E-8833AA04687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B89EC6F-DC5D-2AD5-2819-C5F20663F46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0A8A7C-0830-E15E-7D91-01313E845823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2DDCC6-A17C-10AC-89B1-1CCD95022111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Logistic Regression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3860F05-9AB4-309B-F996-FD05F6F853C5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6DB5086-B1BB-841E-5375-D3AF6BE45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3277"/>
            <a:ext cx="12877800" cy="724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651528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EB9A-E80E-7541-099B-E049D904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9310ED-B5E4-49BE-140B-12BCCF1AB01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756754-AF93-EF61-1AD3-50B48C66FDD6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461758-927B-0034-C6E6-EC9008C02ED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08A3B80-4617-4205-FEF4-CF7C346AD39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13F120-0F56-F789-FD29-70A572CA455C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15F983-1A10-2F64-DAEF-E7EFA9FB06D7}"/>
              </a:ext>
            </a:extLst>
          </p:cNvPr>
          <p:cNvSpPr txBox="1"/>
          <p:nvPr/>
        </p:nvSpPr>
        <p:spPr>
          <a:xfrm>
            <a:off x="4177635" y="631505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Non-Linear Regression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39CE904B-00D7-24F2-03B5-E9FC4B312097}"/>
              </a:ext>
            </a:extLst>
          </p:cNvPr>
          <p:cNvSpPr txBox="1"/>
          <p:nvPr/>
        </p:nvSpPr>
        <p:spPr>
          <a:xfrm>
            <a:off x="11734800" y="9597369"/>
            <a:ext cx="8392583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Image source: decoding.com</a:t>
            </a:r>
            <a:endParaRPr lang="en-US" spc="79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5F55AC3-2985-CFBE-E58E-EF9C647683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5" r="19105" b="5024"/>
          <a:stretch/>
        </p:blipFill>
        <p:spPr bwMode="auto">
          <a:xfrm>
            <a:off x="705886" y="1342649"/>
            <a:ext cx="4648200" cy="407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558F434C-8468-867C-69ED-2E4D2FA0E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0" t="40967" r="8500" b="8974"/>
          <a:stretch/>
        </p:blipFill>
        <p:spPr bwMode="auto">
          <a:xfrm>
            <a:off x="2527909" y="5212910"/>
            <a:ext cx="12649200" cy="429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4289E2A5-C706-16F1-306A-332C56B84F8A}"/>
              </a:ext>
            </a:extLst>
          </p:cNvPr>
          <p:cNvSpPr txBox="1"/>
          <p:nvPr/>
        </p:nvSpPr>
        <p:spPr>
          <a:xfrm>
            <a:off x="5354086" y="1878720"/>
            <a:ext cx="9601200" cy="2717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</a:pPr>
            <a:r>
              <a:rPr lang="en-US" sz="2000" dirty="0" err="1">
                <a:latin typeface="Montserrat" panose="00000500000000000000" pitchFamily="2" charset="0"/>
              </a:rPr>
              <a:t>Persamaan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regresi</a:t>
            </a:r>
            <a:r>
              <a:rPr lang="en-US" sz="2000" dirty="0">
                <a:latin typeface="Montserrat" panose="00000500000000000000" pitchFamily="2" charset="0"/>
              </a:rPr>
              <a:t> yang </a:t>
            </a:r>
            <a:r>
              <a:rPr lang="en-US" sz="2000" dirty="0" err="1">
                <a:latin typeface="Montserrat" panose="00000500000000000000" pitchFamily="2" charset="0"/>
              </a:rPr>
              <a:t>ditampilkan</a:t>
            </a:r>
            <a:r>
              <a:rPr lang="en-US" sz="2000" dirty="0">
                <a:latin typeface="Montserrat" panose="00000500000000000000" pitchFamily="2" charset="0"/>
              </a:rPr>
              <a:t> adalah </a:t>
            </a:r>
            <a:r>
              <a:rPr lang="en-US" sz="2000" b="1" dirty="0" err="1">
                <a:latin typeface="Montserrat" panose="00000500000000000000" pitchFamily="2" charset="0"/>
              </a:rPr>
              <a:t>polinomial</a:t>
            </a:r>
            <a:r>
              <a:rPr lang="en-US" sz="2000" b="1" dirty="0"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latin typeface="Montserrat" panose="00000500000000000000" pitchFamily="2" charset="0"/>
              </a:rPr>
              <a:t>derajat</a:t>
            </a:r>
            <a:r>
              <a:rPr lang="en-US" sz="2000" b="1" dirty="0">
                <a:latin typeface="Montserrat" panose="00000500000000000000" pitchFamily="2" charset="0"/>
              </a:rPr>
              <a:t> 4</a:t>
            </a: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endParaRPr lang="en-US" sz="2000" b="1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0" lvl="0" indent="0" algn="just">
              <a:lnSpc>
                <a:spcPct val="150000"/>
              </a:lnSpc>
            </a:pPr>
            <a:r>
              <a:rPr lang="en-US" sz="2000" dirty="0">
                <a:latin typeface="Montserrat" panose="00000500000000000000" pitchFamily="2" charset="0"/>
              </a:rPr>
              <a:t>Model ini </a:t>
            </a:r>
            <a:r>
              <a:rPr lang="en-US" sz="2000" dirty="0" err="1">
                <a:latin typeface="Montserrat" panose="00000500000000000000" pitchFamily="2" charset="0"/>
              </a:rPr>
              <a:t>mencoba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menangkap</a:t>
            </a:r>
            <a:r>
              <a:rPr lang="en-US" sz="2000" dirty="0">
                <a:latin typeface="Montserrat" panose="00000500000000000000" pitchFamily="2" charset="0"/>
              </a:rPr>
              <a:t> hubungan </a:t>
            </a:r>
            <a:r>
              <a:rPr lang="en-US" sz="2000" dirty="0" err="1">
                <a:latin typeface="Montserrat" panose="00000500000000000000" pitchFamily="2" charset="0"/>
              </a:rPr>
              <a:t>kompleks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antara</a:t>
            </a:r>
            <a:r>
              <a:rPr lang="en-US" sz="2000" dirty="0">
                <a:latin typeface="Montserrat" panose="00000500000000000000" pitchFamily="2" charset="0"/>
              </a:rPr>
              <a:t> variabel </a:t>
            </a:r>
            <a:r>
              <a:rPr lang="en-US" sz="2000" dirty="0" err="1">
                <a:latin typeface="Montserrat" panose="00000500000000000000" pitchFamily="2" charset="0"/>
              </a:rPr>
              <a:t>independen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b="1" dirty="0">
                <a:latin typeface="Montserrat" panose="00000500000000000000" pitchFamily="2" charset="0"/>
              </a:rPr>
              <a:t>x (@ Risk)</a:t>
            </a:r>
            <a:r>
              <a:rPr lang="en-US" sz="2000" dirty="0">
                <a:latin typeface="Montserrat" panose="00000500000000000000" pitchFamily="2" charset="0"/>
              </a:rPr>
              <a:t> dan variabel </a:t>
            </a:r>
            <a:r>
              <a:rPr lang="en-US" sz="2000" dirty="0" err="1">
                <a:latin typeface="Montserrat" panose="00000500000000000000" pitchFamily="2" charset="0"/>
              </a:rPr>
              <a:t>dependen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b="1" dirty="0">
                <a:latin typeface="Montserrat" panose="00000500000000000000" pitchFamily="2" charset="0"/>
              </a:rPr>
              <a:t>y (Relative % Safe)</a:t>
            </a:r>
            <a:r>
              <a:rPr lang="en-US" sz="2000" dirty="0">
                <a:latin typeface="Montserrat" panose="00000500000000000000" pitchFamily="2" charset="0"/>
              </a:rPr>
              <a:t>.</a:t>
            </a:r>
            <a:endParaRPr lang="en-US" sz="2000" spc="79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3E21A2-FDE6-2EC7-B261-57FDC6186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086" y="2695494"/>
            <a:ext cx="8384180" cy="68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10382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194A-3DBD-1426-760E-45B674CB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11EF9D-2697-8388-68CF-87BEA9FFF97C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BFD83D-6918-C2A1-996C-E159FFC42F7F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C9A1D8-14DA-52D8-2E42-6B0602E0891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D9F7B76-BB9B-B425-00BC-D358611BB57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45BCEBA-1F97-8BBF-7143-47D4369921F9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061A6B-723E-A274-A2A1-E9DD246CC3FA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Ridge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F94744-91A7-FE30-6446-63FF6DF0FBEC}"/>
              </a:ext>
            </a:extLst>
          </p:cNvPr>
          <p:cNvSpPr txBox="1"/>
          <p:nvPr/>
        </p:nvSpPr>
        <p:spPr>
          <a:xfrm>
            <a:off x="769002" y="2935502"/>
            <a:ext cx="15591442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sv-SE" sz="2800" dirty="0">
                <a:latin typeface="Montserrat" panose="00000500000000000000" pitchFamily="2" charset="0"/>
              </a:rPr>
              <a:t>Ridge Regression menambahkan penalti terhadap jumlah kuadrat dari koefisien regresi (L2 norm).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FC583-F0FF-F234-F3B8-619AEC8F710F}"/>
              </a:ext>
            </a:extLst>
          </p:cNvPr>
          <p:cNvSpPr txBox="1"/>
          <p:nvPr/>
        </p:nvSpPr>
        <p:spPr>
          <a:xfrm>
            <a:off x="769002" y="5969043"/>
            <a:ext cx="16244255" cy="3811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🔹 </a:t>
            </a:r>
            <a:r>
              <a:rPr lang="en-US" sz="2800" b="1" dirty="0" err="1">
                <a:latin typeface="Montserrat" panose="00000500000000000000" pitchFamily="2" charset="0"/>
              </a:rPr>
              <a:t>Komponen</a:t>
            </a:r>
            <a:r>
              <a:rPr lang="en-US" sz="2800" b="1" dirty="0">
                <a:latin typeface="Montserrat" panose="00000500000000000000" pitchFamily="2" charset="0"/>
              </a:rPr>
              <a:t> dalam </a:t>
            </a:r>
            <a:r>
              <a:rPr lang="en-US" sz="2800" b="1" dirty="0" err="1">
                <a:latin typeface="Montserrat" panose="00000500000000000000" pitchFamily="2" charset="0"/>
              </a:rPr>
              <a:t>persamaan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			→ error </a:t>
            </a:r>
            <a:r>
              <a:rPr lang="en-US" sz="2800" dirty="0" err="1">
                <a:latin typeface="Montserrat" panose="00000500000000000000" pitchFamily="2" charset="0"/>
              </a:rPr>
              <a:t>antara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dan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 (SSE).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			→ </a:t>
            </a:r>
            <a:r>
              <a:rPr lang="en-US" sz="2800" dirty="0" err="1">
                <a:latin typeface="Montserrat" panose="00000500000000000000" pitchFamily="2" charset="0"/>
              </a:rPr>
              <a:t>penalti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mengecilkan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kuadrat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koefisien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📌 </a:t>
            </a:r>
            <a:r>
              <a:rPr lang="en-US" sz="2800" b="1" dirty="0" err="1">
                <a:latin typeface="Montserrat" panose="00000500000000000000" pitchFamily="2" charset="0"/>
              </a:rPr>
              <a:t>Analoginya</a:t>
            </a:r>
            <a:r>
              <a:rPr lang="en-US" sz="2800" dirty="0">
                <a:latin typeface="Montserrat" panose="00000500000000000000" pitchFamily="2" charset="0"/>
              </a:rPr>
              <a:t>: Ridge Regression seperti </a:t>
            </a:r>
            <a:r>
              <a:rPr lang="en-US" sz="2800" dirty="0" err="1">
                <a:latin typeface="Montserrat" panose="00000500000000000000" pitchFamily="2" charset="0"/>
              </a:rPr>
              <a:t>karet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gelang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menarik</a:t>
            </a:r>
            <a:r>
              <a:rPr lang="en-US" sz="2800" dirty="0">
                <a:latin typeface="Montserrat" panose="00000500000000000000" pitchFamily="2" charset="0"/>
              </a:rPr>
              <a:t> semua koefisien ke arah </a:t>
            </a:r>
            <a:r>
              <a:rPr lang="en-US" sz="2800" dirty="0" err="1">
                <a:latin typeface="Montserrat" panose="00000500000000000000" pitchFamily="2" charset="0"/>
              </a:rPr>
              <a:t>nol</a:t>
            </a:r>
            <a:r>
              <a:rPr lang="en-US" sz="2800" dirty="0">
                <a:latin typeface="Montserrat" panose="00000500000000000000" pitchFamily="2" charset="0"/>
              </a:rPr>
              <a:t> tapi </a:t>
            </a:r>
            <a:r>
              <a:rPr lang="en-US" sz="2800" b="1" dirty="0">
                <a:latin typeface="Montserrat" panose="00000500000000000000" pitchFamily="2" charset="0"/>
              </a:rPr>
              <a:t>tidak </a:t>
            </a:r>
            <a:r>
              <a:rPr lang="en-US" sz="2800" b="1" dirty="0" err="1">
                <a:latin typeface="Montserrat" panose="00000500000000000000" pitchFamily="2" charset="0"/>
              </a:rPr>
              <a:t>membuatnya</a:t>
            </a:r>
            <a:r>
              <a:rPr lang="en-US" sz="2800" b="1" dirty="0">
                <a:latin typeface="Montserrat" panose="00000500000000000000" pitchFamily="2" charset="0"/>
              </a:rPr>
              <a:t> benar-benar nol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  <a:endParaRPr lang="el-GR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EEE2FF-2839-C76E-0A6C-75E0F19FE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884" y="4266675"/>
            <a:ext cx="6476146" cy="12198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AB9C2E-C257-ECC1-0037-7E7829762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22" y="6498245"/>
            <a:ext cx="2026746" cy="8877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AA1B391-FAB7-DFAF-5F7F-7D92B15AD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702" y="7227657"/>
            <a:ext cx="1432585" cy="84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6384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B5FA-A8AA-4EEF-7EC5-3A9F547F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C389270-B045-1401-24C2-BE42F3D29AC1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CAFC33-F3AB-6610-6074-3845610BF267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B2788D1-E861-390C-69C4-7279994355D5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030328-C557-B78E-13EE-35F5C5A612F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D7CFE5-D09B-BAE6-67BF-E30C4C86F53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1FDCA7-C8AC-5AB8-BA05-491AD44E2FF3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Lasso Regression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6FAD47-D5C0-3391-B699-DA361E178DBA}"/>
              </a:ext>
            </a:extLst>
          </p:cNvPr>
          <p:cNvSpPr txBox="1"/>
          <p:nvPr/>
        </p:nvSpPr>
        <p:spPr>
          <a:xfrm>
            <a:off x="769002" y="2935502"/>
            <a:ext cx="15591442" cy="1219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Lasso Regression </a:t>
            </a:r>
            <a:r>
              <a:rPr lang="en-US" sz="2800" dirty="0" err="1">
                <a:latin typeface="Montserrat" panose="00000500000000000000" pitchFamily="2" charset="0"/>
              </a:rPr>
              <a:t>menambahkan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penalti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>
                <a:latin typeface="Montserrat" panose="00000500000000000000" pitchFamily="2" charset="0"/>
              </a:rPr>
              <a:t>jumlah </a:t>
            </a:r>
            <a:r>
              <a:rPr lang="en-US" sz="2800" b="1" dirty="0" err="1">
                <a:latin typeface="Montserrat" panose="00000500000000000000" pitchFamily="2" charset="0"/>
              </a:rPr>
              <a:t>absolut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koefisien </a:t>
            </a:r>
            <a:r>
              <a:rPr lang="en-US" sz="2800" dirty="0" err="1">
                <a:latin typeface="Montserrat" panose="00000500000000000000" pitchFamily="2" charset="0"/>
              </a:rPr>
              <a:t>regresi</a:t>
            </a:r>
            <a:r>
              <a:rPr lang="en-US" sz="2800" dirty="0">
                <a:latin typeface="Montserrat" panose="00000500000000000000" pitchFamily="2" charset="0"/>
              </a:rPr>
              <a:t> (</a:t>
            </a:r>
            <a:r>
              <a:rPr lang="en-US" sz="2800" b="1" dirty="0">
                <a:latin typeface="Montserrat" panose="00000500000000000000" pitchFamily="2" charset="0"/>
              </a:rPr>
              <a:t>L1 norm</a:t>
            </a:r>
            <a:r>
              <a:rPr lang="en-US" sz="2800" dirty="0"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892BB-8A6E-89EE-C44F-819A1034E2DC}"/>
              </a:ext>
            </a:extLst>
          </p:cNvPr>
          <p:cNvSpPr txBox="1"/>
          <p:nvPr/>
        </p:nvSpPr>
        <p:spPr>
          <a:xfrm>
            <a:off x="769002" y="5433065"/>
            <a:ext cx="16244255" cy="445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Ridge </a:t>
            </a:r>
            <a:r>
              <a:rPr lang="en-US" sz="2800" dirty="0" err="1">
                <a:latin typeface="Montserrat" panose="00000500000000000000" pitchFamily="2" charset="0"/>
              </a:rPr>
              <a:t>menghukum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kuadrat</a:t>
            </a:r>
            <a:r>
              <a:rPr lang="en-US" sz="2800" dirty="0">
                <a:latin typeface="Montserrat" panose="00000500000000000000" pitchFamily="2" charset="0"/>
              </a:rPr>
              <a:t> koefisien (</a:t>
            </a:r>
            <a:r>
              <a:rPr lang="el-GR" sz="2800" dirty="0"/>
              <a:t>β</a:t>
            </a:r>
            <a:r>
              <a:rPr lang="en-US" sz="2800" dirty="0"/>
              <a:t>^</a:t>
            </a:r>
            <a:r>
              <a:rPr lang="el-GR" sz="2800" dirty="0"/>
              <a:t>2), </a:t>
            </a:r>
            <a:r>
              <a:rPr lang="en-US" sz="2800" dirty="0" err="1">
                <a:latin typeface="Montserrat" panose="00000500000000000000" pitchFamily="2" charset="0"/>
              </a:rPr>
              <a:t>sedangkan</a:t>
            </a:r>
            <a:r>
              <a:rPr lang="en-US" sz="2800" dirty="0">
                <a:latin typeface="Montserrat" panose="00000500000000000000" pitchFamily="2" charset="0"/>
              </a:rPr>
              <a:t> Lasso </a:t>
            </a:r>
            <a:r>
              <a:rPr lang="en-US" sz="2800" dirty="0" err="1">
                <a:latin typeface="Montserrat" panose="00000500000000000000" pitchFamily="2" charset="0"/>
              </a:rPr>
              <a:t>menghukum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</a:t>
            </a:r>
            <a:r>
              <a:rPr lang="en-US" sz="2800" b="1" dirty="0" err="1">
                <a:latin typeface="Montserrat" panose="00000500000000000000" pitchFamily="2" charset="0"/>
              </a:rPr>
              <a:t>absolut</a:t>
            </a:r>
            <a:r>
              <a:rPr lang="en-US" sz="2800" dirty="0">
                <a:latin typeface="Montserrat" panose="00000500000000000000" pitchFamily="2" charset="0"/>
              </a:rPr>
              <a:t> (∣</a:t>
            </a:r>
            <a:r>
              <a:rPr lang="el-GR" sz="2800" dirty="0"/>
              <a:t>β∣).</a:t>
            </a:r>
            <a:endParaRPr lang="en-US" sz="2800" dirty="0">
              <a:latin typeface="Montserrat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Bisa </a:t>
            </a:r>
            <a:r>
              <a:rPr lang="en-US" sz="2800" dirty="0" err="1">
                <a:latin typeface="Montserrat" panose="00000500000000000000" pitchFamily="2" charset="0"/>
              </a:rPr>
              <a:t>digunakan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memilih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lebih</a:t>
            </a:r>
            <a:r>
              <a:rPr lang="en-US" sz="2800" dirty="0">
                <a:latin typeface="Montserrat" panose="00000500000000000000" pitchFamily="2" charset="0"/>
              </a:rPr>
              <a:t> penting dalam model (</a:t>
            </a:r>
            <a:r>
              <a:rPr lang="en-US" sz="2800" dirty="0" err="1">
                <a:latin typeface="Montserrat" panose="00000500000000000000" pitchFamily="2" charset="0"/>
              </a:rPr>
              <a:t>karena</a:t>
            </a:r>
            <a:r>
              <a:rPr lang="en-US" sz="2800" dirty="0">
                <a:latin typeface="Montserrat" panose="00000500000000000000" pitchFamily="2" charset="0"/>
              </a:rPr>
              <a:t> beberapa koefisien </a:t>
            </a:r>
            <a:r>
              <a:rPr lang="en-US" sz="2800" dirty="0" err="1">
                <a:latin typeface="Montserrat" panose="00000500000000000000" pitchFamily="2" charset="0"/>
              </a:rPr>
              <a:t>bisa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menjadi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nol</a:t>
            </a:r>
            <a:r>
              <a:rPr lang="en-US" sz="2800" dirty="0">
                <a:latin typeface="Montserrat" panose="00000500000000000000" pitchFamily="2" charset="0"/>
              </a:rPr>
              <a:t>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Cocok </a:t>
            </a:r>
            <a:r>
              <a:rPr lang="en-US" sz="2800" dirty="0" err="1">
                <a:latin typeface="Montserrat" panose="00000500000000000000" pitchFamily="2" charset="0"/>
              </a:rPr>
              <a:t>jika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hanya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ada</a:t>
            </a:r>
            <a:r>
              <a:rPr lang="en-US" sz="2800" dirty="0">
                <a:latin typeface="Montserrat" panose="00000500000000000000" pitchFamily="2" charset="0"/>
              </a:rPr>
              <a:t> beberapa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benar-benar penting untuk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📌 </a:t>
            </a:r>
            <a:r>
              <a:rPr lang="en-US" sz="2800" b="1" dirty="0" err="1">
                <a:latin typeface="Montserrat" panose="00000500000000000000" pitchFamily="2" charset="0"/>
              </a:rPr>
              <a:t>Analoginya</a:t>
            </a:r>
            <a:r>
              <a:rPr lang="en-US" sz="2800" dirty="0">
                <a:latin typeface="Montserrat" panose="00000500000000000000" pitchFamily="2" charset="0"/>
              </a:rPr>
              <a:t>: Lasso Regression seperti </a:t>
            </a:r>
            <a:r>
              <a:rPr lang="en-US" sz="2800" b="1" dirty="0">
                <a:latin typeface="Montserrat" panose="00000500000000000000" pitchFamily="2" charset="0"/>
              </a:rPr>
              <a:t>menggunakan </a:t>
            </a:r>
            <a:r>
              <a:rPr lang="en-US" sz="2800" b="1" dirty="0" err="1">
                <a:latin typeface="Montserrat" panose="00000500000000000000" pitchFamily="2" charset="0"/>
              </a:rPr>
              <a:t>gunting</a:t>
            </a:r>
            <a:r>
              <a:rPr lang="en-US" sz="2800" dirty="0">
                <a:latin typeface="Montserrat" panose="00000500000000000000" pitchFamily="2" charset="0"/>
              </a:rPr>
              <a:t> untuk </a:t>
            </a:r>
            <a:r>
              <a:rPr lang="en-US" sz="2800" dirty="0" err="1">
                <a:latin typeface="Montserrat" panose="00000500000000000000" pitchFamily="2" charset="0"/>
              </a:rPr>
              <a:t>menghilangkan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fitur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kurang</a:t>
            </a:r>
            <a:r>
              <a:rPr lang="en-US" sz="2800" dirty="0">
                <a:latin typeface="Montserrat" panose="00000500000000000000" pitchFamily="2" charset="0"/>
              </a:rPr>
              <a:t> penting.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FDDB30-3D77-BC73-1D84-4A1A1A582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836" y="3976623"/>
            <a:ext cx="5567774" cy="12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60217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DF87-E949-6A6D-960F-54D958A5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4B9BC757-AE64-31AC-3DD2-BEE0289B201C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567168D-2D43-15F6-D86F-4864ACDF98D2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2CC679C-E4FB-3E36-A313-6EB63BBEB98D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C1C6B87-2565-E302-7A10-160FC7CE4CD5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D1AFED3-D76B-FA34-D9C4-29FC73E8D179}"/>
              </a:ext>
            </a:extLst>
          </p:cNvPr>
          <p:cNvSpPr txBox="1"/>
          <p:nvPr/>
        </p:nvSpPr>
        <p:spPr>
          <a:xfrm>
            <a:off x="1311647" y="4214179"/>
            <a:ext cx="496758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Evaluation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6EB3ABB-3C4D-ED9B-4F76-A6044F04EF1D}"/>
              </a:ext>
            </a:extLst>
          </p:cNvPr>
          <p:cNvSpPr txBox="1"/>
          <p:nvPr/>
        </p:nvSpPr>
        <p:spPr>
          <a:xfrm>
            <a:off x="1259652" y="5143500"/>
            <a:ext cx="107799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 Regression</a:t>
            </a:r>
            <a:endParaRPr lang="en-US" sz="6792" b="1" u="none" strike="noStrike" spc="224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DA548BE-D4A4-8480-A676-FD983247E29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538DCC5-3150-5B47-3BDF-EDE83D3E88F1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7539687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D0640-848B-11D7-939C-2C48B4B0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AD83CA35-CA94-BC52-42CC-FADD18C25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427" y="1709779"/>
            <a:ext cx="15240000" cy="82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A762A2BA-59B1-03C5-9470-2DED2D97BC6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67E9E9-A588-7DAC-1E96-358313BD2F4A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9B78A8-F688-7E32-F073-5F502AA7F5F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22EA420-4B47-FF25-8D3F-21C252E8CC5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1C99D7-5D78-D0B1-22A7-2C2B2687146A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769B32-9E9C-7E53-6CEF-22F00ABCB157}"/>
              </a:ext>
            </a:extLst>
          </p:cNvPr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Serupa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tapi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tak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sama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3591675857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85917-789F-FE08-25D3-990DE9A57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5B2846-1547-83AF-6481-3BFAFCAB492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AD40C5-76A9-C43A-B049-23BAA1C308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B5B93-6EC4-9913-8743-099BC5319E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6C5CC21-B10F-C63C-969B-90665415CDA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3ADF1B-D5A7-B9DF-9DDF-04AD5E09B1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428B8C-B5D0-E9D0-6A3F-8089A5FF54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9683111-2D0B-3654-AD11-91F6B60726D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E906ECD-FAE9-6FF7-DF28-11E6799F09D5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Mean Absolute Error (MAE)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9F3D1091-3085-DC1E-C1FC-1FE136B2B4CA}"/>
              </a:ext>
            </a:extLst>
          </p:cNvPr>
          <p:cNvSpPr txBox="1"/>
          <p:nvPr/>
        </p:nvSpPr>
        <p:spPr>
          <a:xfrm>
            <a:off x="1261997" y="2053728"/>
            <a:ext cx="8796403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Absolute Error 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 error yang terjadi dalam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prediksi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endParaRPr lang="en-US" sz="2800" dirty="0">
              <a:highlight>
                <a:srgbClr val="C0C0C0"/>
              </a:highlight>
              <a:latin typeface="Montserrat" panose="00000500000000000000" pitchFamily="2" charset="0"/>
              <a:ea typeface="Trebuchet MS"/>
              <a:cs typeface="Courier New" panose="02070309020205020404" pitchFamily="49" charset="0"/>
              <a:sym typeface="Wingdings" pitchFamily="2" charset="2"/>
            </a:endParaRPr>
          </a:p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highlight>
                  <a:srgbClr val="C0C0C0"/>
                </a:highlight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MEAN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Absolute Error 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rataan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semua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absolut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Courier New" panose="02070309020205020404" pitchFamily="49" charset="0"/>
                <a:sym typeface="Wingdings" pitchFamily="2" charset="2"/>
              </a:rPr>
              <a:t> error</a:t>
            </a:r>
            <a:endParaRPr lang="en-US" sz="2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2A3E77-3892-61EB-E79C-5401EE34C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648033"/>
            <a:ext cx="4972812" cy="1793765"/>
          </a:xfrm>
          <a:prstGeom prst="rect">
            <a:avLst/>
          </a:prstGeom>
        </p:spPr>
      </p:pic>
      <p:pic>
        <p:nvPicPr>
          <p:cNvPr id="13" name="Picture 12" descr="A diagram of a graph&#10;&#10;Description automatically generated">
            <a:extLst>
              <a:ext uri="{FF2B5EF4-FFF2-40B4-BE49-F238E27FC236}">
                <a16:creationId xmlns:a16="http://schemas.microsoft.com/office/drawing/2014/main" id="{9C89839C-C8F7-1E7C-22F2-964678C92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530" y="1104918"/>
            <a:ext cx="6410473" cy="508657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EBFC21-7362-AEF3-7469-51F82ABB3CD6}"/>
              </a:ext>
            </a:extLst>
          </p:cNvPr>
          <p:cNvCxnSpPr>
            <a:cxnSpLocks/>
          </p:cNvCxnSpPr>
          <p:nvPr/>
        </p:nvCxnSpPr>
        <p:spPr>
          <a:xfrm>
            <a:off x="13182600" y="4721335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4385335A-444B-2E0B-265F-61D6313709E0}"/>
              </a:ext>
            </a:extLst>
          </p:cNvPr>
          <p:cNvSpPr txBox="1"/>
          <p:nvPr/>
        </p:nvSpPr>
        <p:spPr>
          <a:xfrm>
            <a:off x="12534107" y="6249880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BC07EF5-0612-073B-34D9-B5C37776316D}"/>
              </a:ext>
            </a:extLst>
          </p:cNvPr>
          <p:cNvSpPr/>
          <p:nvPr/>
        </p:nvSpPr>
        <p:spPr>
          <a:xfrm>
            <a:off x="11582400" y="6994572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78F2940D-1C62-0D02-97D1-FEC9977A9E01}"/>
              </a:ext>
            </a:extLst>
          </p:cNvPr>
          <p:cNvSpPr txBox="1"/>
          <p:nvPr/>
        </p:nvSpPr>
        <p:spPr>
          <a:xfrm>
            <a:off x="11963400" y="6877790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A244A04-A366-AAE0-1F2F-3A0F68AB4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0766" y="349831"/>
            <a:ext cx="3086038" cy="996732"/>
          </a:xfrm>
          <a:prstGeom prst="rect">
            <a:avLst/>
          </a:prstGeom>
        </p:spPr>
      </p:pic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FEB8D1FC-2912-7F68-8527-46CBA13B2041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3182600" y="848197"/>
            <a:ext cx="638166" cy="62178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F61C1C70-69D9-3CBD-8745-87E2CB12FDA0}"/>
              </a:ext>
            </a:extLst>
          </p:cNvPr>
          <p:cNvSpPr txBox="1"/>
          <p:nvPr/>
        </p:nvSpPr>
        <p:spPr>
          <a:xfrm>
            <a:off x="1246757" y="6877790"/>
            <a:ext cx="14553873" cy="323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MAE </a:t>
            </a:r>
            <a:r>
              <a:rPr lang="en-US" sz="2800" dirty="0" err="1">
                <a:latin typeface="Montserrat" panose="00000500000000000000" pitchFamily="2" charset="0"/>
              </a:rPr>
              <a:t>mengukur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seberapa</a:t>
            </a:r>
            <a:r>
              <a:rPr lang="en-US" sz="2800" dirty="0">
                <a:latin typeface="Montserrat" panose="00000500000000000000" pitchFamily="2" charset="0"/>
              </a:rPr>
              <a:t> jauh rata-rata </a:t>
            </a:r>
            <a:r>
              <a:rPr lang="en-US" sz="2800" dirty="0" err="1">
                <a:latin typeface="Montserrat" panose="00000500000000000000" pitchFamily="2" charset="0"/>
              </a:rPr>
              <a:t>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dari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aktual</a:t>
            </a:r>
            <a:r>
              <a:rPr lang="en-US" sz="2800" dirty="0">
                <a:latin typeface="Montserrat" panose="00000500000000000000" pitchFamily="2" charset="0"/>
              </a:rPr>
              <a:t> dalam </a:t>
            </a:r>
            <a:r>
              <a:rPr lang="en-US" sz="2800" dirty="0" err="1">
                <a:latin typeface="Montserrat" panose="00000500000000000000" pitchFamily="2" charset="0"/>
              </a:rPr>
              <a:t>satuan</a:t>
            </a:r>
            <a:r>
              <a:rPr lang="en-US" sz="2800" dirty="0">
                <a:latin typeface="Montserrat" panose="00000500000000000000" pitchFamily="2" charset="0"/>
              </a:rPr>
              <a:t> yang </a:t>
            </a:r>
            <a:r>
              <a:rPr lang="en-US" sz="2800" dirty="0" err="1">
                <a:latin typeface="Montserrat" panose="00000500000000000000" pitchFamily="2" charset="0"/>
              </a:rPr>
              <a:t>sama</a:t>
            </a:r>
            <a:r>
              <a:rPr lang="en-US" sz="2800" dirty="0">
                <a:latin typeface="Montserrat" panose="00000500000000000000" pitchFamily="2" charset="0"/>
              </a:rPr>
              <a:t> dengan data </a:t>
            </a:r>
            <a:r>
              <a:rPr lang="en-US" sz="2800" dirty="0" err="1">
                <a:latin typeface="Montserrat" panose="00000500000000000000" pitchFamily="2" charset="0"/>
              </a:rPr>
              <a:t>aslinya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Tidak sensitive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outlier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kecil</a:t>
            </a:r>
            <a:r>
              <a:rPr lang="en-US" sz="2800" dirty="0">
                <a:latin typeface="Montserrat" panose="00000500000000000000" pitchFamily="2" charset="0"/>
              </a:rPr>
              <a:t> MAE,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model dalam </a:t>
            </a: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sebenarnya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9511198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684874-B6EF-2B6B-3BB0-08F51D4B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graph&#10;&#10;Description automatically generated">
            <a:extLst>
              <a:ext uri="{FF2B5EF4-FFF2-40B4-BE49-F238E27FC236}">
                <a16:creationId xmlns:a16="http://schemas.microsoft.com/office/drawing/2014/main" id="{57E02273-BE75-094F-EED2-B8691BA6A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779" y="1611333"/>
            <a:ext cx="5285831" cy="443221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FC9ED97C-C0A3-D73B-084A-FC9DB131265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279761-1576-14AA-B8C5-AF4F7FAA38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FDA2D3B-9684-140E-414A-1CBE977B66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F461C7E-F09E-1C9F-22C6-EBA5BECB892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F682933-1850-4A78-736E-36B8D8235C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A90530E-F123-36C7-D341-A64A26B981B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CF604E1-492E-06A9-E383-57DEF3D3670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EEBBF17-B040-05BA-6180-6576A2A6CBD6}"/>
              </a:ext>
            </a:extLst>
          </p:cNvPr>
          <p:cNvSpPr txBox="1"/>
          <p:nvPr/>
        </p:nvSpPr>
        <p:spPr>
          <a:xfrm>
            <a:off x="751417" y="795019"/>
            <a:ext cx="15783983" cy="1886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Mean Squared Error (MSE)</a:t>
            </a:r>
          </a:p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Root Mean Squared Error (RMSE)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679D17F3-2349-349A-A75E-E6E883A78B11}"/>
              </a:ext>
            </a:extLst>
          </p:cNvPr>
          <p:cNvSpPr txBox="1"/>
          <p:nvPr/>
        </p:nvSpPr>
        <p:spPr>
          <a:xfrm>
            <a:off x="1261997" y="3077538"/>
            <a:ext cx="8796403" cy="129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MSE 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Rataan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seluruh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kuadrat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error</a:t>
            </a:r>
          </a:p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RMSE  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Akar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kuadrat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MSE</a:t>
            </a:r>
            <a:endParaRPr lang="en-US" sz="2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F99FB65-3FE2-832D-5394-FCE74CF50C5D}"/>
              </a:ext>
            </a:extLst>
          </p:cNvPr>
          <p:cNvCxnSpPr>
            <a:cxnSpLocks/>
          </p:cNvCxnSpPr>
          <p:nvPr/>
        </p:nvCxnSpPr>
        <p:spPr>
          <a:xfrm>
            <a:off x="13182600" y="4721335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7EEF6D0A-189F-8AC1-E08D-55CB2ED24C04}"/>
              </a:ext>
            </a:extLst>
          </p:cNvPr>
          <p:cNvSpPr txBox="1"/>
          <p:nvPr/>
        </p:nvSpPr>
        <p:spPr>
          <a:xfrm>
            <a:off x="12534107" y="6249880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707BFA-6F24-9773-B977-E38D58916AA5}"/>
              </a:ext>
            </a:extLst>
          </p:cNvPr>
          <p:cNvSpPr/>
          <p:nvPr/>
        </p:nvSpPr>
        <p:spPr>
          <a:xfrm>
            <a:off x="11582400" y="6994572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4226189F-7E80-41BE-2255-CD16DA0911E9}"/>
              </a:ext>
            </a:extLst>
          </p:cNvPr>
          <p:cNvSpPr txBox="1"/>
          <p:nvPr/>
        </p:nvSpPr>
        <p:spPr>
          <a:xfrm>
            <a:off x="11963400" y="6877790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E9FCF19B-49C1-94BC-16E8-BA8C2B3F2B32}"/>
              </a:ext>
            </a:extLst>
          </p:cNvPr>
          <p:cNvSpPr txBox="1"/>
          <p:nvPr/>
        </p:nvSpPr>
        <p:spPr>
          <a:xfrm>
            <a:off x="1261997" y="7088581"/>
            <a:ext cx="14553873" cy="2591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Sensitif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terhadap</a:t>
            </a:r>
            <a:r>
              <a:rPr lang="en-US" sz="2800" dirty="0">
                <a:latin typeface="Montserrat" panose="00000500000000000000" pitchFamily="2" charset="0"/>
              </a:rPr>
              <a:t> outlier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kecil</a:t>
            </a:r>
            <a:r>
              <a:rPr lang="en-US" sz="2800" dirty="0">
                <a:latin typeface="Montserrat" panose="00000500000000000000" pitchFamily="2" charset="0"/>
              </a:rPr>
              <a:t> MSE dan RMSE,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model dalam </a:t>
            </a:r>
            <a:r>
              <a:rPr lang="en-US" sz="2800" dirty="0" err="1">
                <a:latin typeface="Montserrat" panose="00000500000000000000" pitchFamily="2" charset="0"/>
              </a:rPr>
              <a:t>memprediksi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nilai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sebenarnya</a:t>
            </a:r>
            <a:r>
              <a:rPr lang="en-US" sz="28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E87835-5E5A-AAD7-D391-05F38A896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49" y="4914407"/>
            <a:ext cx="3886199" cy="13857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111DA3-019E-9434-739B-0EF91B44A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227" y="5068186"/>
            <a:ext cx="3365974" cy="94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3812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1673B-58ED-ED03-E5D3-68E9CC2F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Description automatically generated">
            <a:extLst>
              <a:ext uri="{FF2B5EF4-FFF2-40B4-BE49-F238E27FC236}">
                <a16:creationId xmlns:a16="http://schemas.microsoft.com/office/drawing/2014/main" id="{937F55D4-16AA-D6AC-DAD0-9ED577764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0779" y="671322"/>
            <a:ext cx="5285831" cy="443221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2EFD1FB1-AA36-4BAE-FD91-705D80144FEF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EE3817-FBDE-17DF-ECC7-13067F129A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0A79D8-B4E3-97F0-3957-2444AE32EAC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79EFA0E-24CC-5A75-1DD8-D7437B48FE6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A886EB-F698-A86A-B5F9-4E4DCE5A6A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39AFC90-10B4-670E-6CF2-0925A57F5A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A2486FD-6930-12FC-3603-529D30253A6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6DF55CEB-CFE0-E549-4788-0203721AE0A5}"/>
              </a:ext>
            </a:extLst>
          </p:cNvPr>
          <p:cNvSpPr txBox="1"/>
          <p:nvPr/>
        </p:nvSpPr>
        <p:spPr>
          <a:xfrm>
            <a:off x="751417" y="795019"/>
            <a:ext cx="15783983" cy="87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ct val="15000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R-Squared (R2)</a:t>
            </a:r>
          </a:p>
        </p:txBody>
      </p:sp>
      <p:sp>
        <p:nvSpPr>
          <p:cNvPr id="10" name="Google Shape;74;p2">
            <a:extLst>
              <a:ext uri="{FF2B5EF4-FFF2-40B4-BE49-F238E27FC236}">
                <a16:creationId xmlns:a16="http://schemas.microsoft.com/office/drawing/2014/main" id="{1C9C33F1-A259-9F47-6BF9-FBECD06FDE08}"/>
              </a:ext>
            </a:extLst>
          </p:cNvPr>
          <p:cNvSpPr txBox="1"/>
          <p:nvPr/>
        </p:nvSpPr>
        <p:spPr>
          <a:xfrm>
            <a:off x="1261997" y="2053728"/>
            <a:ext cx="8796403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R-Squared 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Menjelaskan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seberapa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baik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model untuk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menjelaskan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variasi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dalam data yang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diamati</a:t>
            </a:r>
            <a:endParaRPr lang="en-US" sz="2800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FA7435-1509-5F63-34D8-3FE888421623}"/>
              </a:ext>
            </a:extLst>
          </p:cNvPr>
          <p:cNvCxnSpPr>
            <a:cxnSpLocks/>
          </p:cNvCxnSpPr>
          <p:nvPr/>
        </p:nvCxnSpPr>
        <p:spPr>
          <a:xfrm>
            <a:off x="13182600" y="3781324"/>
            <a:ext cx="0" cy="1470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Google Shape;74;p2">
            <a:extLst>
              <a:ext uri="{FF2B5EF4-FFF2-40B4-BE49-F238E27FC236}">
                <a16:creationId xmlns:a16="http://schemas.microsoft.com/office/drawing/2014/main" id="{DE9D4341-9852-91CB-4464-C0057F205809}"/>
              </a:ext>
            </a:extLst>
          </p:cNvPr>
          <p:cNvSpPr txBox="1"/>
          <p:nvPr/>
        </p:nvSpPr>
        <p:spPr>
          <a:xfrm>
            <a:off x="12534107" y="5309869"/>
            <a:ext cx="3049586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Model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Regresi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11D2AB3-E715-FA71-6D6C-AD254B7E3457}"/>
              </a:ext>
            </a:extLst>
          </p:cNvPr>
          <p:cNvSpPr/>
          <p:nvPr/>
        </p:nvSpPr>
        <p:spPr>
          <a:xfrm>
            <a:off x="11582400" y="6054561"/>
            <a:ext cx="304800" cy="304800"/>
          </a:xfrm>
          <a:prstGeom prst="ellipse">
            <a:avLst/>
          </a:prstGeom>
          <a:solidFill>
            <a:srgbClr val="60A8E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74;p2">
            <a:extLst>
              <a:ext uri="{FF2B5EF4-FFF2-40B4-BE49-F238E27FC236}">
                <a16:creationId xmlns:a16="http://schemas.microsoft.com/office/drawing/2014/main" id="{EED3BC2F-7ECC-D49F-B3EB-44ADBCE07060}"/>
              </a:ext>
            </a:extLst>
          </p:cNvPr>
          <p:cNvSpPr txBox="1"/>
          <p:nvPr/>
        </p:nvSpPr>
        <p:spPr>
          <a:xfrm>
            <a:off x="11963400" y="5937779"/>
            <a:ext cx="4191000" cy="42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50" marR="2540">
              <a:lnSpc>
                <a:spcPct val="150000"/>
              </a:lnSpc>
              <a:buSzPts val="2400"/>
            </a:pPr>
            <a:r>
              <a:rPr lang="en-US" sz="1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Data actual yang </a:t>
            </a:r>
            <a:r>
              <a:rPr lang="en-US" sz="1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diprediksi</a:t>
            </a:r>
            <a:endParaRPr lang="en-US" sz="18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31" name="Google Shape;74;p2">
            <a:extLst>
              <a:ext uri="{FF2B5EF4-FFF2-40B4-BE49-F238E27FC236}">
                <a16:creationId xmlns:a16="http://schemas.microsoft.com/office/drawing/2014/main" id="{AE46AEF0-1C05-918D-C0F9-7154078E01B8}"/>
              </a:ext>
            </a:extLst>
          </p:cNvPr>
          <p:cNvSpPr txBox="1"/>
          <p:nvPr/>
        </p:nvSpPr>
        <p:spPr>
          <a:xfrm>
            <a:off x="1261997" y="6085716"/>
            <a:ext cx="14553873" cy="388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Kesimpulan: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2800" dirty="0">
                <a:latin typeface="Montserrat" panose="00000500000000000000" pitchFamily="2" charset="0"/>
              </a:rPr>
              <a:t>Ketika kita ingin mengukur seberapa baik model menjelaskan variasi dalam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Montserrat" panose="00000500000000000000" pitchFamily="2" charset="0"/>
              </a:rPr>
              <a:t>Semakin</a:t>
            </a:r>
            <a:r>
              <a:rPr lang="en-US" sz="2800" b="1" dirty="0">
                <a:latin typeface="Montserrat" panose="00000500000000000000" pitchFamily="2" charset="0"/>
              </a:rPr>
              <a:t> besar </a:t>
            </a:r>
            <a:r>
              <a:rPr lang="en-US" sz="2800" b="1" dirty="0" err="1">
                <a:latin typeface="Montserrat" panose="00000500000000000000" pitchFamily="2" charset="0"/>
              </a:rPr>
              <a:t>nilai</a:t>
            </a:r>
            <a:r>
              <a:rPr lang="en-US" sz="2800" b="1" dirty="0">
                <a:latin typeface="Montserrat" panose="00000500000000000000" pitchFamily="2" charset="0"/>
              </a:rPr>
              <a:t> R2R^2R2 (</a:t>
            </a:r>
            <a:r>
              <a:rPr lang="en-US" sz="2800" b="1" dirty="0" err="1">
                <a:latin typeface="Montserrat" panose="00000500000000000000" pitchFamily="2" charset="0"/>
              </a:rPr>
              <a:t>mendekati</a:t>
            </a:r>
            <a:r>
              <a:rPr lang="en-US" sz="2800" b="1" dirty="0">
                <a:latin typeface="Montserrat" panose="00000500000000000000" pitchFamily="2" charset="0"/>
              </a:rPr>
              <a:t> 1)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semakin</a:t>
            </a:r>
            <a:r>
              <a:rPr lang="en-US" sz="2800" dirty="0">
                <a:latin typeface="Montserrat" panose="00000500000000000000" pitchFamily="2" charset="0"/>
              </a:rPr>
              <a:t> baik </a:t>
            </a:r>
            <a:r>
              <a:rPr lang="en-US" sz="2800" dirty="0" err="1">
                <a:latin typeface="Montserrat" panose="00000500000000000000" pitchFamily="2" charset="0"/>
              </a:rPr>
              <a:t>modelnya</a:t>
            </a:r>
            <a:r>
              <a:rPr lang="en-US" sz="2800" dirty="0">
                <a:latin typeface="Montserrat" panose="00000500000000000000" pitchFamily="2" charset="0"/>
              </a:rPr>
              <a:t>, </a:t>
            </a:r>
            <a:r>
              <a:rPr lang="en-US" sz="2800" dirty="0" err="1">
                <a:latin typeface="Montserrat" panose="00000500000000000000" pitchFamily="2" charset="0"/>
              </a:rPr>
              <a:t>karena</a:t>
            </a:r>
            <a:r>
              <a:rPr lang="en-US" sz="2800" dirty="0">
                <a:latin typeface="Montserrat" panose="00000500000000000000" pitchFamily="2" charset="0"/>
              </a:rPr>
              <a:t> menunjukkan </a:t>
            </a:r>
            <a:r>
              <a:rPr lang="en-US" sz="2800" dirty="0" err="1">
                <a:latin typeface="Montserrat" panose="00000500000000000000" pitchFamily="2" charset="0"/>
              </a:rPr>
              <a:t>bahwa</a:t>
            </a:r>
            <a:r>
              <a:rPr lang="en-US" sz="2800" dirty="0">
                <a:latin typeface="Montserrat" panose="00000500000000000000" pitchFamily="2" charset="0"/>
              </a:rPr>
              <a:t> model </a:t>
            </a:r>
            <a:r>
              <a:rPr lang="en-US" sz="2800" dirty="0" err="1">
                <a:latin typeface="Montserrat" panose="00000500000000000000" pitchFamily="2" charset="0"/>
              </a:rPr>
              <a:t>mampu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menjelaskan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sebagian</a:t>
            </a:r>
            <a:r>
              <a:rPr lang="en-US" sz="2800" dirty="0">
                <a:latin typeface="Montserrat" panose="00000500000000000000" pitchFamily="2" charset="0"/>
              </a:rPr>
              <a:t> besar </a:t>
            </a:r>
            <a:r>
              <a:rPr lang="en-US" sz="2800" dirty="0" err="1">
                <a:latin typeface="Montserrat" panose="00000500000000000000" pitchFamily="2" charset="0"/>
              </a:rPr>
              <a:t>variasi</a:t>
            </a:r>
            <a:r>
              <a:rPr lang="en-US" sz="2800" dirty="0">
                <a:latin typeface="Montserrat" panose="00000500000000000000" pitchFamily="2" charset="0"/>
              </a:rPr>
              <a:t> dalam data.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F1F09-1081-3319-7F50-E395DCC2F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365268"/>
            <a:ext cx="4343298" cy="135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71900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A671-B957-5E68-CDBB-3202ABAD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62E3D2-B99E-EF33-EC00-1E3C35074EA2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C51E0C-5DBC-3D5F-6BEE-7850E07533C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E3F1DB-EB4E-9C15-76FA-3F7DEE3D36DE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F6EA7E3-3285-9831-A493-177ABF66CF3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72CE03-5C3A-5422-8363-B1F4FEF29C0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04EA52A-67D2-1BB7-3ABC-9E3243547ECF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C019E8-6562-7142-0F10-6BE436FC9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59456"/>
              </p:ext>
            </p:extLst>
          </p:nvPr>
        </p:nvGraphicFramePr>
        <p:xfrm>
          <a:off x="1277237" y="3162300"/>
          <a:ext cx="7979397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159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5014238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800" b="0" dirty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Luas Rumah (m²)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i-FI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dirty="0">
                          <a:effectLst/>
                          <a:latin typeface="Montserrat" panose="00000500000000000000" pitchFamily="2" charset="0"/>
                          <a:cs typeface="Mongolian Baiti" panose="03000500000000000000" pitchFamily="66" charset="0"/>
                        </a:rP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sp>
        <p:nvSpPr>
          <p:cNvPr id="7" name="Google Shape;74;p2">
            <a:extLst>
              <a:ext uri="{FF2B5EF4-FFF2-40B4-BE49-F238E27FC236}">
                <a16:creationId xmlns:a16="http://schemas.microsoft.com/office/drawing/2014/main" id="{2E8498B9-1D8F-DD11-5602-C72F106A3993}"/>
              </a:ext>
            </a:extLst>
          </p:cNvPr>
          <p:cNvSpPr txBox="1"/>
          <p:nvPr/>
        </p:nvSpPr>
        <p:spPr>
          <a:xfrm>
            <a:off x="1300971" y="2283903"/>
            <a:ext cx="7955663" cy="65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 err="1">
                <a:latin typeface="Montserrat" panose="00000500000000000000" pitchFamily="2" charset="0"/>
              </a:rPr>
              <a:t>Misalkan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kita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memiliki</a:t>
            </a:r>
            <a:r>
              <a:rPr lang="en-US" sz="2800" dirty="0">
                <a:latin typeface="Montserrat" panose="00000500000000000000" pitchFamily="2" charset="0"/>
              </a:rPr>
              <a:t> data berikut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F4E502-4B78-F089-761C-8E47DF1F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551" y="8329406"/>
            <a:ext cx="4792012" cy="541034"/>
          </a:xfrm>
          <a:prstGeom prst="rect">
            <a:avLst/>
          </a:prstGeom>
        </p:spPr>
      </p:pic>
      <p:sp>
        <p:nvSpPr>
          <p:cNvPr id="12" name="Google Shape;74;p2">
            <a:extLst>
              <a:ext uri="{FF2B5EF4-FFF2-40B4-BE49-F238E27FC236}">
                <a16:creationId xmlns:a16="http://schemas.microsoft.com/office/drawing/2014/main" id="{71CF1BA2-342F-D257-9F4A-3589204E56A8}"/>
              </a:ext>
            </a:extLst>
          </p:cNvPr>
          <p:cNvSpPr txBox="1"/>
          <p:nvPr/>
        </p:nvSpPr>
        <p:spPr>
          <a:xfrm>
            <a:off x="1300971" y="6923962"/>
            <a:ext cx="15413456" cy="19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ingin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membangun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sederhana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memprediksi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harga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rumah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berdasarkan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luas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rumah. Katakanlah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setelah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melatih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model,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mendapatkan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persamaan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8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regresi</a:t>
            </a:r>
            <a:r>
              <a:rPr lang="en-US" sz="28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sebagai berikut.</a:t>
            </a:r>
            <a:endParaRPr lang="en-US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1127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5D6D-0B79-6EFB-A16F-4D60E97B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552C83-7BD2-3B47-CE2A-48033A0A0BF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293883-5ED6-8C04-FFC2-99B2C670036B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9AE8723-1EA2-C746-FAB4-1997F2321E7C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00B6C86-0F39-1744-6971-2569C6282E1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F1EB6B-9EB6-120F-3370-9066086D1375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8F4CE34-4A48-F0FF-3749-996F97490AF3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FD9A16-B907-9A86-453E-A22503AC8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202459"/>
              </p:ext>
            </p:extLst>
          </p:nvPr>
        </p:nvGraphicFramePr>
        <p:xfrm>
          <a:off x="1277237" y="2707486"/>
          <a:ext cx="1327696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Luas Rumah (m²)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(juta Rupiah)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sp>
        <p:nvSpPr>
          <p:cNvPr id="12" name="Google Shape;74;p2">
            <a:extLst>
              <a:ext uri="{FF2B5EF4-FFF2-40B4-BE49-F238E27FC236}">
                <a16:creationId xmlns:a16="http://schemas.microsoft.com/office/drawing/2014/main" id="{5BA0C3BF-7CCE-796F-4189-1815DD15E5A6}"/>
              </a:ext>
            </a:extLst>
          </p:cNvPr>
          <p:cNvSpPr txBox="1"/>
          <p:nvPr/>
        </p:nvSpPr>
        <p:spPr>
          <a:xfrm>
            <a:off x="1277237" y="6244838"/>
            <a:ext cx="14419963" cy="388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Perhatikan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data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terakhir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pada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tabel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di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atas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memiliki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nilai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-25,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nilai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ini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bisa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saling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membingungkan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ketika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menghitung rata-rata dan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memberi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kesan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bahwa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tidak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ada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kesalahan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Namun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, jelas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bahwa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model tidak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akurat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dalam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kedua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prediksi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tersebut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karena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terdapat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selisih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positif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 dan </a:t>
            </a:r>
            <a:r>
              <a:rPr lang="en-US" sz="2400" b="0" i="0" dirty="0" err="1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negatif</a:t>
            </a:r>
            <a:r>
              <a:rPr lang="en-US" sz="2400" b="0" i="0" dirty="0">
                <a:solidFill>
                  <a:srgbClr val="52525B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Montserrat" panose="00000500000000000000" pitchFamily="2" charset="0"/>
              </a:rPr>
              <a:t>*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Solusi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dari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permasalahan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di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atas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kita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dapat menggunakan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perhitungan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metriks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yang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lebih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andal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.</a:t>
            </a:r>
            <a:endParaRPr lang="en-US" sz="24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14653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74BE-ADB6-586D-B27E-8AB77D03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CEAB0D0-12A7-FBCB-00DB-64994EBB4144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BF02D3D-A024-77A9-4836-85E21424826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F2EE647-FD04-B64E-D816-2145B6C0C51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EBEB4D7-706C-CEDD-2495-DFDA41ABC1D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C98BEAD-0E16-A848-EA91-86F11C193872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95C2DA9-E84F-3EAA-E042-F477224F7228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- MAE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97FF1C-A386-4898-FA1B-FE7E139E0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17848"/>
              </p:ext>
            </p:extLst>
          </p:nvPr>
        </p:nvGraphicFramePr>
        <p:xfrm>
          <a:off x="1277237" y="2707486"/>
          <a:ext cx="1327696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Luas Rumah (m</a:t>
                      </a:r>
                      <a:r>
                        <a:rPr lang="en-US" sz="240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br>
                        <a:rPr lang="en-US" sz="240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MAE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∣100 − 175∣ = 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∣150 − 200∣ =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∣200 − 225∣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∣250 − 250∣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∣300 − 275∣ =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CA64CE3-8C23-A56F-649C-7CC2B09DB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591300"/>
            <a:ext cx="8206810" cy="119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62837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9408-92BD-E84F-5FF5-7EE7EC9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68D76B-4395-E5A2-B2B4-8E9CD56F6FC7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AC5829A-C18B-4F86-3E91-D45744CAA45F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5CC87C5-87FA-AA55-951E-5C3FA5470AE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E895DA3-59C7-CA02-897F-51CE7A8DAC2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932795-B0AF-4D7A-5145-73EC95989A3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AB9321-3A4E-560E-D454-5F35B371D609}"/>
              </a:ext>
            </a:extLst>
          </p:cNvPr>
          <p:cNvSpPr txBox="1"/>
          <p:nvPr/>
        </p:nvSpPr>
        <p:spPr>
          <a:xfrm>
            <a:off x="4146406" y="342900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Analogi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Perhitungan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Evaluasi</a:t>
            </a: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- MSE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CFDCD8-59A2-1FE1-69FA-890D6D6C5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23684"/>
              </p:ext>
            </p:extLst>
          </p:nvPr>
        </p:nvGraphicFramePr>
        <p:xfrm>
          <a:off x="1277237" y="2707486"/>
          <a:ext cx="1327696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172">
                  <a:extLst>
                    <a:ext uri="{9D8B030D-6E8A-4147-A177-3AD203B41FA5}">
                      <a16:colId xmlns:a16="http://schemas.microsoft.com/office/drawing/2014/main" val="3677028929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130912734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51124951"/>
                    </a:ext>
                  </a:extLst>
                </a:gridCol>
                <a:gridCol w="3696930">
                  <a:extLst>
                    <a:ext uri="{9D8B030D-6E8A-4147-A177-3AD203B41FA5}">
                      <a16:colId xmlns:a16="http://schemas.microsoft.com/office/drawing/2014/main" val="29362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Luas Rumah (m</a:t>
                      </a:r>
                      <a:r>
                        <a:rPr lang="en-US" sz="240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>
                          <a:effectLst/>
                          <a:latin typeface="Montserrat" panose="00000500000000000000" pitchFamily="2" charset="0"/>
                        </a:rPr>
                        <a:t>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fi-FI" sz="2400" b="0">
                          <a:effectLst/>
                          <a:latin typeface="Montserrat" panose="00000500000000000000" pitchFamily="2" charset="0"/>
                        </a:rPr>
                        <a:t>Harga Rumah (asli)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Harga Prediksi (juta Rupiah)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Selisih MSE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4065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50 = 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(100−175)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(-75)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 = 5625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604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60 =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(150 − 200)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(-50)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 = 2500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2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70 =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(200 − 225)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(-25)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67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80 = 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(250 − 250)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0</a:t>
                      </a:r>
                      <a:r>
                        <a:rPr lang="en-US" sz="2400" b="0" baseline="3000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96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>
                          <a:effectLst/>
                          <a:latin typeface="Montserrat" panose="00000500000000000000" pitchFamily="2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cy-GB" sz="2400" b="0">
                          <a:effectLst/>
                          <a:latin typeface="Montserrat" panose="00000500000000000000" pitchFamily="2" charset="0"/>
                        </a:rPr>
                        <a:t>ŷ = 50 + 2.5 × 90 = 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(300 − 275)</a:t>
                      </a:r>
                      <a:r>
                        <a:rPr lang="en-US" sz="2400" b="0" baseline="30000" dirty="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= 25</a:t>
                      </a:r>
                      <a:r>
                        <a:rPr lang="en-US" sz="2400" b="0" baseline="30000" dirty="0">
                          <a:effectLst/>
                          <a:latin typeface="Montserrat" panose="00000500000000000000" pitchFamily="2" charset="0"/>
                        </a:rPr>
                        <a:t>2 </a:t>
                      </a:r>
                      <a:r>
                        <a:rPr lang="en-US" sz="2400" b="0" dirty="0">
                          <a:effectLst/>
                          <a:latin typeface="Montserrat" panose="00000500000000000000" pitchFamily="2" charset="0"/>
                        </a:rPr>
                        <a:t>= 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606555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D60B8295-AB3A-DF3E-E35C-838E46930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37" y="7210866"/>
            <a:ext cx="9607563" cy="98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421755"/>
      </p:ext>
    </p:extLst>
  </p:cSld>
  <p:clrMapOvr>
    <a:masterClrMapping/>
  </p:clrMapOvr>
  <p:transition spd="slow">
    <p:cover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915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Nils. J. Nilson, 1998,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Intoduction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to Machine Learning, Department of Computer Science, </a:t>
            </a:r>
            <a:r>
              <a:rPr lang="en-US" sz="2800" b="0" i="0" dirty="0" err="1">
                <a:solidFill>
                  <a:srgbClr val="074364"/>
                </a:solidFill>
                <a:effectLst/>
                <a:latin typeface="Raleway" pitchFamily="2" charset="0"/>
              </a:rPr>
              <a:t>Standford</a:t>
            </a: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 University, Last Edition</a:t>
            </a: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340175"/>
            <a:ext cx="18288000" cy="946825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946824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.5$&#10;&#10;$\theta_1 = 0$&#10;&#10;% \delta_i^{(l)} = \left(\sum_j W_{ji}^{(l)} \delta_j^{(l+1)}\right) f'(z_i^{(l)})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0$&#10;&#10;$\theta_1 = 0.5$&#10;&#10;% \delta_i^{(l)} = \left(\sum_j W_{ji}^{(l)} \delta_j^{(l+1)}\right) f'(z_i^{(l)})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$&#10;&#10;$\theta_1 = 0.5$&#10;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1615</Words>
  <Application>Microsoft Office PowerPoint</Application>
  <PresentationFormat>Custom</PresentationFormat>
  <Paragraphs>289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Raleway</vt:lpstr>
      <vt:lpstr>Calibri</vt:lpstr>
      <vt:lpstr>Aptos</vt:lpstr>
      <vt:lpstr>Open Sans Extra Bold</vt:lpstr>
      <vt:lpstr>Cambria Math</vt:lpstr>
      <vt:lpstr>Montserrat Classic Bold</vt:lpstr>
      <vt:lpstr>Montserrat</vt:lpstr>
      <vt:lpstr>Montserrat Classic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25</cp:revision>
  <dcterms:created xsi:type="dcterms:W3CDTF">2006-08-16T00:00:00Z</dcterms:created>
  <dcterms:modified xsi:type="dcterms:W3CDTF">2025-03-16T05:29:05Z</dcterms:modified>
  <dc:identifier>DAGWy-tLfhM</dc:identifier>
</cp:coreProperties>
</file>